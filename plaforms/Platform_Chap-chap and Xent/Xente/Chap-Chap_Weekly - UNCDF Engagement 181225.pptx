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25" r:id="rId5"/>
    <p:sldMasterId id="2147483699" r:id="rId6"/>
    <p:sldMasterId id="2147483687" r:id="rId7"/>
    <p:sldMasterId id="2147483672" r:id="rId8"/>
    <p:sldMasterId id="2147483711" r:id="rId9"/>
  </p:sldMasterIdLst>
  <p:notesMasterIdLst>
    <p:notesMasterId r:id="rId20"/>
  </p:notesMasterIdLst>
  <p:handoutMasterIdLst>
    <p:handoutMasterId r:id="rId21"/>
  </p:handoutMasterIdLst>
  <p:sldIdLst>
    <p:sldId id="285" r:id="rId10"/>
    <p:sldId id="273" r:id="rId11"/>
    <p:sldId id="302" r:id="rId12"/>
    <p:sldId id="303" r:id="rId13"/>
    <p:sldId id="306" r:id="rId14"/>
    <p:sldId id="274" r:id="rId15"/>
    <p:sldId id="304" r:id="rId16"/>
    <p:sldId id="300" r:id="rId17"/>
    <p:sldId id="305" r:id="rId18"/>
    <p:sldId id="272" r:id="rId1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FF0000"/>
    <a:srgbClr val="CC0000"/>
    <a:srgbClr val="E03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viewProps" Target="viewProp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E58340-BDDB-453D-A5B7-EC16EE11C517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99AB5E81-16D9-4E2C-BFC5-FE3A76DAB957}">
      <dgm:prSet phldrT="[Text]" phldr="0"/>
      <dgm:spPr/>
      <dgm:t>
        <a:bodyPr/>
        <a:lstStyle/>
        <a:p>
          <a:pPr rtl="0"/>
          <a:r>
            <a:rPr lang="en-US">
              <a:latin typeface="Arial Nova"/>
            </a:rPr>
            <a:t>Outreaches conducted </a:t>
          </a:r>
          <a:endParaRPr lang="en-GB"/>
        </a:p>
      </dgm:t>
    </dgm:pt>
    <dgm:pt modelId="{1F847DCF-1158-4BC2-9E4F-5CD971E63D1E}" type="parTrans" cxnId="{EAA46CBA-0BAD-4DF0-8288-5BFA47F28E09}">
      <dgm:prSet/>
      <dgm:spPr/>
      <dgm:t>
        <a:bodyPr/>
        <a:lstStyle/>
        <a:p>
          <a:endParaRPr lang="en-GB"/>
        </a:p>
      </dgm:t>
    </dgm:pt>
    <dgm:pt modelId="{BC7665AA-CDE3-4E4D-9F4A-AD7A7F95FE9E}" type="sibTrans" cxnId="{EAA46CBA-0BAD-4DF0-8288-5BFA47F28E09}">
      <dgm:prSet/>
      <dgm:spPr/>
      <dgm:t>
        <a:bodyPr/>
        <a:lstStyle/>
        <a:p>
          <a:endParaRPr lang="en-GB"/>
        </a:p>
      </dgm:t>
    </dgm:pt>
    <dgm:pt modelId="{1EA1BF0A-B780-4125-AB9A-DB972FA2F1EF}">
      <dgm:prSet phldrT="[Text]" phldr="0"/>
      <dgm:spPr/>
      <dgm:t>
        <a:bodyPr/>
        <a:lstStyle/>
        <a:p>
          <a:pPr rtl="0"/>
          <a:r>
            <a:rPr lang="en-US">
              <a:latin typeface="Arial Nova"/>
            </a:rPr>
            <a:t>Way Forward</a:t>
          </a:r>
          <a:r>
            <a:rPr lang="en-US"/>
            <a:t> </a:t>
          </a:r>
          <a:endParaRPr lang="en-GB"/>
        </a:p>
      </dgm:t>
    </dgm:pt>
    <dgm:pt modelId="{CF8237F8-3491-4585-842B-ADC41A389E36}" type="parTrans" cxnId="{41FC558A-5731-4E87-BCC9-DBB820C93603}">
      <dgm:prSet/>
      <dgm:spPr/>
      <dgm:t>
        <a:bodyPr/>
        <a:lstStyle/>
        <a:p>
          <a:endParaRPr lang="en-GB"/>
        </a:p>
      </dgm:t>
    </dgm:pt>
    <dgm:pt modelId="{8915A36E-94D0-4884-B6A6-2E7E490226F0}" type="sibTrans" cxnId="{41FC558A-5731-4E87-BCC9-DBB820C93603}">
      <dgm:prSet/>
      <dgm:spPr/>
      <dgm:t>
        <a:bodyPr/>
        <a:lstStyle/>
        <a:p>
          <a:endParaRPr lang="en-GB"/>
        </a:p>
      </dgm:t>
    </dgm:pt>
    <dgm:pt modelId="{5DA8E3C3-109B-4542-9BC6-F8CA20B7A6DC}">
      <dgm:prSet phldr="0"/>
      <dgm:spPr/>
      <dgm:t>
        <a:bodyPr/>
        <a:lstStyle/>
        <a:p>
          <a:pPr rtl="0"/>
          <a:r>
            <a:rPr lang="en-US">
              <a:latin typeface="Arial Nova"/>
            </a:rPr>
            <a:t>SME trained and Onboarded</a:t>
          </a:r>
        </a:p>
      </dgm:t>
    </dgm:pt>
    <dgm:pt modelId="{73AB559D-C382-46EB-972F-1CACDB458544}" type="parTrans" cxnId="{596EA29B-7335-40DD-86B1-3ABCF6092A4E}">
      <dgm:prSet/>
      <dgm:spPr/>
    </dgm:pt>
    <dgm:pt modelId="{F744CE6E-ED7F-47F1-99B5-06D59F852CCA}" type="sibTrans" cxnId="{596EA29B-7335-40DD-86B1-3ABCF6092A4E}">
      <dgm:prSet/>
      <dgm:spPr/>
    </dgm:pt>
    <dgm:pt modelId="{D4C0CE51-8A78-4DC9-A318-5E162A344C76}" type="pres">
      <dgm:prSet presAssocID="{B0E58340-BDDB-453D-A5B7-EC16EE11C517}" presName="Name0" presStyleCnt="0">
        <dgm:presLayoutVars>
          <dgm:chMax val="7"/>
          <dgm:chPref val="7"/>
          <dgm:dir/>
        </dgm:presLayoutVars>
      </dgm:prSet>
      <dgm:spPr/>
    </dgm:pt>
    <dgm:pt modelId="{D1562DBC-DD6D-47D1-BE87-194BE20BC269}" type="pres">
      <dgm:prSet presAssocID="{B0E58340-BDDB-453D-A5B7-EC16EE11C517}" presName="Name1" presStyleCnt="0"/>
      <dgm:spPr/>
    </dgm:pt>
    <dgm:pt modelId="{097EEAFA-2BC5-4E47-9E57-229B75A3E638}" type="pres">
      <dgm:prSet presAssocID="{B0E58340-BDDB-453D-A5B7-EC16EE11C517}" presName="cycle" presStyleCnt="0"/>
      <dgm:spPr/>
    </dgm:pt>
    <dgm:pt modelId="{9DCC4254-6B85-4855-A51D-5B0F4F62EA8A}" type="pres">
      <dgm:prSet presAssocID="{B0E58340-BDDB-453D-A5B7-EC16EE11C517}" presName="srcNode" presStyleLbl="node1" presStyleIdx="0" presStyleCnt="3"/>
      <dgm:spPr/>
    </dgm:pt>
    <dgm:pt modelId="{E0809908-C39B-4A79-8644-6F2930F36355}" type="pres">
      <dgm:prSet presAssocID="{B0E58340-BDDB-453D-A5B7-EC16EE11C517}" presName="conn" presStyleLbl="parChTrans1D2" presStyleIdx="0" presStyleCnt="1"/>
      <dgm:spPr/>
    </dgm:pt>
    <dgm:pt modelId="{E05AC284-47DA-4A65-814A-6881F9111629}" type="pres">
      <dgm:prSet presAssocID="{B0E58340-BDDB-453D-A5B7-EC16EE11C517}" presName="extraNode" presStyleLbl="node1" presStyleIdx="0" presStyleCnt="3"/>
      <dgm:spPr/>
    </dgm:pt>
    <dgm:pt modelId="{30992FDC-8D12-4FFB-977F-F058F89A9711}" type="pres">
      <dgm:prSet presAssocID="{B0E58340-BDDB-453D-A5B7-EC16EE11C517}" presName="dstNode" presStyleLbl="node1" presStyleIdx="0" presStyleCnt="3"/>
      <dgm:spPr/>
    </dgm:pt>
    <dgm:pt modelId="{F2CFAC73-79C3-41F5-ABE3-1561B71BCB6B}" type="pres">
      <dgm:prSet presAssocID="{99AB5E81-16D9-4E2C-BFC5-FE3A76DAB957}" presName="text_1" presStyleLbl="node1" presStyleIdx="0" presStyleCnt="3">
        <dgm:presLayoutVars>
          <dgm:bulletEnabled val="1"/>
        </dgm:presLayoutVars>
      </dgm:prSet>
      <dgm:spPr/>
    </dgm:pt>
    <dgm:pt modelId="{AEFB93DC-E6C3-475E-A1ED-CBA6921B217A}" type="pres">
      <dgm:prSet presAssocID="{99AB5E81-16D9-4E2C-BFC5-FE3A76DAB957}" presName="accent_1" presStyleCnt="0"/>
      <dgm:spPr/>
    </dgm:pt>
    <dgm:pt modelId="{E3CF815D-32A4-40C4-AF56-8C3553BD1A69}" type="pres">
      <dgm:prSet presAssocID="{99AB5E81-16D9-4E2C-BFC5-FE3A76DAB957}" presName="accentRepeatNode" presStyleLbl="solidFgAcc1" presStyleIdx="0" presStyleCnt="3"/>
      <dgm:spPr/>
    </dgm:pt>
    <dgm:pt modelId="{4BAA2522-D0F6-4D48-A0DA-D983C80C38D2}" type="pres">
      <dgm:prSet presAssocID="{5DA8E3C3-109B-4542-9BC6-F8CA20B7A6DC}" presName="text_2" presStyleLbl="node1" presStyleIdx="1" presStyleCnt="3">
        <dgm:presLayoutVars>
          <dgm:bulletEnabled val="1"/>
        </dgm:presLayoutVars>
      </dgm:prSet>
      <dgm:spPr/>
    </dgm:pt>
    <dgm:pt modelId="{FF69BB4F-6EDA-417A-A922-8105708427E5}" type="pres">
      <dgm:prSet presAssocID="{5DA8E3C3-109B-4542-9BC6-F8CA20B7A6DC}" presName="accent_2" presStyleCnt="0"/>
      <dgm:spPr/>
    </dgm:pt>
    <dgm:pt modelId="{48FA39A0-9101-4661-BA54-69A151F12410}" type="pres">
      <dgm:prSet presAssocID="{5DA8E3C3-109B-4542-9BC6-F8CA20B7A6DC}" presName="accentRepeatNode" presStyleLbl="solidFgAcc1" presStyleIdx="1" presStyleCnt="3"/>
      <dgm:spPr/>
    </dgm:pt>
    <dgm:pt modelId="{AA71111D-115A-4A1E-A804-8216554251B1}" type="pres">
      <dgm:prSet presAssocID="{1EA1BF0A-B780-4125-AB9A-DB972FA2F1EF}" presName="text_3" presStyleLbl="node1" presStyleIdx="2" presStyleCnt="3">
        <dgm:presLayoutVars>
          <dgm:bulletEnabled val="1"/>
        </dgm:presLayoutVars>
      </dgm:prSet>
      <dgm:spPr/>
    </dgm:pt>
    <dgm:pt modelId="{0D26FA3D-9C8F-41A3-83AE-FE272F7EA6C0}" type="pres">
      <dgm:prSet presAssocID="{1EA1BF0A-B780-4125-AB9A-DB972FA2F1EF}" presName="accent_3" presStyleCnt="0"/>
      <dgm:spPr/>
    </dgm:pt>
    <dgm:pt modelId="{CBA57EE1-463B-45AE-A042-E243EA01BD1B}" type="pres">
      <dgm:prSet presAssocID="{1EA1BF0A-B780-4125-AB9A-DB972FA2F1EF}" presName="accentRepeatNode" presStyleLbl="solidFgAcc1" presStyleIdx="2" presStyleCnt="3"/>
      <dgm:spPr/>
    </dgm:pt>
  </dgm:ptLst>
  <dgm:cxnLst>
    <dgm:cxn modelId="{7F51D505-C407-4496-9387-53FA9D8F6640}" type="presOf" srcId="{5DA8E3C3-109B-4542-9BC6-F8CA20B7A6DC}" destId="{4BAA2522-D0F6-4D48-A0DA-D983C80C38D2}" srcOrd="0" destOrd="0" presId="urn:microsoft.com/office/officeart/2008/layout/VerticalCurvedList"/>
    <dgm:cxn modelId="{F9F1C53A-1926-42F8-BB57-6E6576169DFD}" type="presOf" srcId="{99AB5E81-16D9-4E2C-BFC5-FE3A76DAB957}" destId="{F2CFAC73-79C3-41F5-ABE3-1561B71BCB6B}" srcOrd="0" destOrd="0" presId="urn:microsoft.com/office/officeart/2008/layout/VerticalCurvedList"/>
    <dgm:cxn modelId="{784FAA5E-BDD7-4213-8ACE-FD58E55D9738}" type="presOf" srcId="{BC7665AA-CDE3-4E4D-9F4A-AD7A7F95FE9E}" destId="{E0809908-C39B-4A79-8644-6F2930F36355}" srcOrd="0" destOrd="0" presId="urn:microsoft.com/office/officeart/2008/layout/VerticalCurvedList"/>
    <dgm:cxn modelId="{41FC558A-5731-4E87-BCC9-DBB820C93603}" srcId="{B0E58340-BDDB-453D-A5B7-EC16EE11C517}" destId="{1EA1BF0A-B780-4125-AB9A-DB972FA2F1EF}" srcOrd="2" destOrd="0" parTransId="{CF8237F8-3491-4585-842B-ADC41A389E36}" sibTransId="{8915A36E-94D0-4884-B6A6-2E7E490226F0}"/>
    <dgm:cxn modelId="{596EA29B-7335-40DD-86B1-3ABCF6092A4E}" srcId="{B0E58340-BDDB-453D-A5B7-EC16EE11C517}" destId="{5DA8E3C3-109B-4542-9BC6-F8CA20B7A6DC}" srcOrd="1" destOrd="0" parTransId="{73AB559D-C382-46EB-972F-1CACDB458544}" sibTransId="{F744CE6E-ED7F-47F1-99B5-06D59F852CCA}"/>
    <dgm:cxn modelId="{0F735AB4-6668-432B-8292-FBC8D9B2992C}" type="presOf" srcId="{1EA1BF0A-B780-4125-AB9A-DB972FA2F1EF}" destId="{AA71111D-115A-4A1E-A804-8216554251B1}" srcOrd="0" destOrd="0" presId="urn:microsoft.com/office/officeart/2008/layout/VerticalCurvedList"/>
    <dgm:cxn modelId="{EAA46CBA-0BAD-4DF0-8288-5BFA47F28E09}" srcId="{B0E58340-BDDB-453D-A5B7-EC16EE11C517}" destId="{99AB5E81-16D9-4E2C-BFC5-FE3A76DAB957}" srcOrd="0" destOrd="0" parTransId="{1F847DCF-1158-4BC2-9E4F-5CD971E63D1E}" sibTransId="{BC7665AA-CDE3-4E4D-9F4A-AD7A7F95FE9E}"/>
    <dgm:cxn modelId="{403DF3F2-6157-455B-BB49-940B5177B30A}" type="presOf" srcId="{B0E58340-BDDB-453D-A5B7-EC16EE11C517}" destId="{D4C0CE51-8A78-4DC9-A318-5E162A344C76}" srcOrd="0" destOrd="0" presId="urn:microsoft.com/office/officeart/2008/layout/VerticalCurvedList"/>
    <dgm:cxn modelId="{87E2EDB9-570D-4792-B078-5F5C2C563BB5}" type="presParOf" srcId="{D4C0CE51-8A78-4DC9-A318-5E162A344C76}" destId="{D1562DBC-DD6D-47D1-BE87-194BE20BC269}" srcOrd="0" destOrd="0" presId="urn:microsoft.com/office/officeart/2008/layout/VerticalCurvedList"/>
    <dgm:cxn modelId="{DC6D9D15-AF8D-40B5-8EAB-6934FFCF2131}" type="presParOf" srcId="{D1562DBC-DD6D-47D1-BE87-194BE20BC269}" destId="{097EEAFA-2BC5-4E47-9E57-229B75A3E638}" srcOrd="0" destOrd="0" presId="urn:microsoft.com/office/officeart/2008/layout/VerticalCurvedList"/>
    <dgm:cxn modelId="{6C4607A5-D930-48E4-9EEB-936EF5AD15A4}" type="presParOf" srcId="{097EEAFA-2BC5-4E47-9E57-229B75A3E638}" destId="{9DCC4254-6B85-4855-A51D-5B0F4F62EA8A}" srcOrd="0" destOrd="0" presId="urn:microsoft.com/office/officeart/2008/layout/VerticalCurvedList"/>
    <dgm:cxn modelId="{1AC1B0EC-7B51-44CF-B79A-8006183FA9C7}" type="presParOf" srcId="{097EEAFA-2BC5-4E47-9E57-229B75A3E638}" destId="{E0809908-C39B-4A79-8644-6F2930F36355}" srcOrd="1" destOrd="0" presId="urn:microsoft.com/office/officeart/2008/layout/VerticalCurvedList"/>
    <dgm:cxn modelId="{52592F60-724C-40FA-965B-7EB80B9A46C3}" type="presParOf" srcId="{097EEAFA-2BC5-4E47-9E57-229B75A3E638}" destId="{E05AC284-47DA-4A65-814A-6881F9111629}" srcOrd="2" destOrd="0" presId="urn:microsoft.com/office/officeart/2008/layout/VerticalCurvedList"/>
    <dgm:cxn modelId="{2C742AC6-8663-42E8-B232-448E79253AB6}" type="presParOf" srcId="{097EEAFA-2BC5-4E47-9E57-229B75A3E638}" destId="{30992FDC-8D12-4FFB-977F-F058F89A9711}" srcOrd="3" destOrd="0" presId="urn:microsoft.com/office/officeart/2008/layout/VerticalCurvedList"/>
    <dgm:cxn modelId="{B911B64C-E710-478E-B162-2F02A159DDF0}" type="presParOf" srcId="{D1562DBC-DD6D-47D1-BE87-194BE20BC269}" destId="{F2CFAC73-79C3-41F5-ABE3-1561B71BCB6B}" srcOrd="1" destOrd="0" presId="urn:microsoft.com/office/officeart/2008/layout/VerticalCurvedList"/>
    <dgm:cxn modelId="{15F42BC4-4292-440B-84F4-82222FC41612}" type="presParOf" srcId="{D1562DBC-DD6D-47D1-BE87-194BE20BC269}" destId="{AEFB93DC-E6C3-475E-A1ED-CBA6921B217A}" srcOrd="2" destOrd="0" presId="urn:microsoft.com/office/officeart/2008/layout/VerticalCurvedList"/>
    <dgm:cxn modelId="{906A4CBB-99FC-41F8-B826-5E50582550D0}" type="presParOf" srcId="{AEFB93DC-E6C3-475E-A1ED-CBA6921B217A}" destId="{E3CF815D-32A4-40C4-AF56-8C3553BD1A69}" srcOrd="0" destOrd="0" presId="urn:microsoft.com/office/officeart/2008/layout/VerticalCurvedList"/>
    <dgm:cxn modelId="{7F942424-EFCD-4BCE-A276-2E744AD9DE33}" type="presParOf" srcId="{D1562DBC-DD6D-47D1-BE87-194BE20BC269}" destId="{4BAA2522-D0F6-4D48-A0DA-D983C80C38D2}" srcOrd="3" destOrd="0" presId="urn:microsoft.com/office/officeart/2008/layout/VerticalCurvedList"/>
    <dgm:cxn modelId="{04B82F5D-AB47-41A9-8F54-FEA73C078279}" type="presParOf" srcId="{D1562DBC-DD6D-47D1-BE87-194BE20BC269}" destId="{FF69BB4F-6EDA-417A-A922-8105708427E5}" srcOrd="4" destOrd="0" presId="urn:microsoft.com/office/officeart/2008/layout/VerticalCurvedList"/>
    <dgm:cxn modelId="{0A9B5FFF-39F6-4BFE-A60A-0EB91B1BA639}" type="presParOf" srcId="{FF69BB4F-6EDA-417A-A922-8105708427E5}" destId="{48FA39A0-9101-4661-BA54-69A151F12410}" srcOrd="0" destOrd="0" presId="urn:microsoft.com/office/officeart/2008/layout/VerticalCurvedList"/>
    <dgm:cxn modelId="{F5AD0F3E-AD06-478B-9168-2DB1EB24EBBF}" type="presParOf" srcId="{D1562DBC-DD6D-47D1-BE87-194BE20BC269}" destId="{AA71111D-115A-4A1E-A804-8216554251B1}" srcOrd="5" destOrd="0" presId="urn:microsoft.com/office/officeart/2008/layout/VerticalCurvedList"/>
    <dgm:cxn modelId="{57ABBD6F-DF58-44AC-AFFA-83DFA4C14610}" type="presParOf" srcId="{D1562DBC-DD6D-47D1-BE87-194BE20BC269}" destId="{0D26FA3D-9C8F-41A3-83AE-FE272F7EA6C0}" srcOrd="6" destOrd="0" presId="urn:microsoft.com/office/officeart/2008/layout/VerticalCurvedList"/>
    <dgm:cxn modelId="{D46B121C-EEAD-4CBA-958A-CB3FD6FAA84D}" type="presParOf" srcId="{0D26FA3D-9C8F-41A3-83AE-FE272F7EA6C0}" destId="{CBA57EE1-463B-45AE-A042-E243EA01BD1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809908-C39B-4A79-8644-6F2930F36355}">
      <dsp:nvSpPr>
        <dsp:cNvPr id="0" name=""/>
        <dsp:cNvSpPr/>
      </dsp:nvSpPr>
      <dsp:spPr>
        <a:xfrm>
          <a:off x="-8380617" y="-1280902"/>
          <a:ext cx="9977519" cy="9977519"/>
        </a:xfrm>
        <a:prstGeom prst="blockArc">
          <a:avLst>
            <a:gd name="adj1" fmla="val 18900000"/>
            <a:gd name="adj2" fmla="val 2700000"/>
            <a:gd name="adj3" fmla="val 216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CFAC73-79C3-41F5-ABE3-1561B71BCB6B}">
      <dsp:nvSpPr>
        <dsp:cNvPr id="0" name=""/>
        <dsp:cNvSpPr/>
      </dsp:nvSpPr>
      <dsp:spPr>
        <a:xfrm>
          <a:off x="1029301" y="741571"/>
          <a:ext cx="12892169" cy="148314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7245" tIns="165100" rIns="165100" bIns="165100" numCol="1" spcCol="1270" anchor="ctr" anchorCtr="0">
          <a:noAutofit/>
        </a:bodyPr>
        <a:lstStyle/>
        <a:p>
          <a:pPr marL="0" lvl="0" indent="0" algn="l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>
              <a:latin typeface="Arial Nova"/>
            </a:rPr>
            <a:t>Outreaches conducted </a:t>
          </a:r>
          <a:endParaRPr lang="en-GB" sz="6500" kern="1200"/>
        </a:p>
      </dsp:txBody>
      <dsp:txXfrm>
        <a:off x="1029301" y="741571"/>
        <a:ext cx="12892169" cy="1483142"/>
      </dsp:txXfrm>
    </dsp:sp>
    <dsp:sp modelId="{E3CF815D-32A4-40C4-AF56-8C3553BD1A69}">
      <dsp:nvSpPr>
        <dsp:cNvPr id="0" name=""/>
        <dsp:cNvSpPr/>
      </dsp:nvSpPr>
      <dsp:spPr>
        <a:xfrm>
          <a:off x="102336" y="556178"/>
          <a:ext cx="1853928" cy="1853928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AA2522-D0F6-4D48-A0DA-D983C80C38D2}">
      <dsp:nvSpPr>
        <dsp:cNvPr id="0" name=""/>
        <dsp:cNvSpPr/>
      </dsp:nvSpPr>
      <dsp:spPr>
        <a:xfrm>
          <a:off x="1568423" y="2966285"/>
          <a:ext cx="12353046" cy="148314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7245" tIns="165100" rIns="165100" bIns="165100" numCol="1" spcCol="1270" anchor="ctr" anchorCtr="0">
          <a:noAutofit/>
        </a:bodyPr>
        <a:lstStyle/>
        <a:p>
          <a:pPr marL="0" lvl="0" indent="0" algn="l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>
              <a:latin typeface="Arial Nova"/>
            </a:rPr>
            <a:t>SME trained and Onboarded</a:t>
          </a:r>
        </a:p>
      </dsp:txBody>
      <dsp:txXfrm>
        <a:off x="1568423" y="2966285"/>
        <a:ext cx="12353046" cy="1483142"/>
      </dsp:txXfrm>
    </dsp:sp>
    <dsp:sp modelId="{48FA39A0-9101-4661-BA54-69A151F12410}">
      <dsp:nvSpPr>
        <dsp:cNvPr id="0" name=""/>
        <dsp:cNvSpPr/>
      </dsp:nvSpPr>
      <dsp:spPr>
        <a:xfrm>
          <a:off x="641459" y="2780892"/>
          <a:ext cx="1853928" cy="1853928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71111D-115A-4A1E-A804-8216554251B1}">
      <dsp:nvSpPr>
        <dsp:cNvPr id="0" name=""/>
        <dsp:cNvSpPr/>
      </dsp:nvSpPr>
      <dsp:spPr>
        <a:xfrm>
          <a:off x="1029301" y="5190999"/>
          <a:ext cx="12892169" cy="148314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7245" tIns="165100" rIns="165100" bIns="165100" numCol="1" spcCol="1270" anchor="ctr" anchorCtr="0">
          <a:noAutofit/>
        </a:bodyPr>
        <a:lstStyle/>
        <a:p>
          <a:pPr marL="0" lvl="0" indent="0" algn="l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>
              <a:latin typeface="Arial Nova"/>
            </a:rPr>
            <a:t>Way Forward</a:t>
          </a:r>
          <a:r>
            <a:rPr lang="en-US" sz="6500" kern="1200"/>
            <a:t> </a:t>
          </a:r>
          <a:endParaRPr lang="en-GB" sz="6500" kern="1200"/>
        </a:p>
      </dsp:txBody>
      <dsp:txXfrm>
        <a:off x="1029301" y="5190999"/>
        <a:ext cx="12892169" cy="1483142"/>
      </dsp:txXfrm>
    </dsp:sp>
    <dsp:sp modelId="{CBA57EE1-463B-45AE-A042-E243EA01BD1B}">
      <dsp:nvSpPr>
        <dsp:cNvPr id="0" name=""/>
        <dsp:cNvSpPr/>
      </dsp:nvSpPr>
      <dsp:spPr>
        <a:xfrm>
          <a:off x="102336" y="5005606"/>
          <a:ext cx="1853928" cy="1853928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77BBB6-01D5-EB19-D97E-21B8EC1D7B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6F9569-F007-C850-DE1E-56AF4BFE21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A7C00-117E-47A3-AFCA-1D2A34331E5F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694D9-4DC3-220E-B992-94A5DD2DB0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A9535-FCD0-37D4-5699-5AB40E4334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9CB0E-52F9-4FA6-A670-8201FFBEB0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2703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07:41:00.6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0,'0'1695,"0"-1661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07:41:13.7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0,'0'2221,"0"-2186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07:41:20.0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0,'0'2423,"0"-2389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07:42:44.876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07:41:00.6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0,'0'1695,"0"-1661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07:41:13.7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0,'0'2221,"0"-2186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07:41:20.0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0,'0'2423,"0"-2389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07:42:44.876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02DD1-96D2-4F09-8E7E-084F57CC1EF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01FB38-B716-435D-9805-81DB964199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4830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9BB08-9B3A-831D-65AD-9D93EBDBD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0498E2-CA9F-713A-28C5-E10764903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79370-BB22-9C04-7F1F-046B1F73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00" y="9739312"/>
            <a:ext cx="4114800" cy="547688"/>
          </a:xfrm>
          <a:prstGeom prst="rect">
            <a:avLst/>
          </a:prstGeom>
        </p:spPr>
        <p:txBody>
          <a:bodyPr/>
          <a:lstStyle/>
          <a:p>
            <a:fld id="{8A1FA8B1-7E4A-4100-B3A0-9B4E0E70CA28}" type="datetime1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50EBA-CDAC-522B-706E-181ED01D4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C932E-9FFF-8DCC-B9BA-D1006B600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2BF0-B32B-4F5F-9242-AE9AF0DF69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41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BB7F2266-9B24-8583-694E-0B35E1442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543" y="97434"/>
            <a:ext cx="10363200" cy="10090318"/>
          </a:xfrm>
          <a:prstGeom prst="rect">
            <a:avLst/>
          </a:prstGeom>
          <a:effectLst/>
        </p:spPr>
      </p:pic>
      <p:sp>
        <p:nvSpPr>
          <p:cNvPr id="23" name="Freeform 21">
            <a:extLst>
              <a:ext uri="{FF2B5EF4-FFF2-40B4-BE49-F238E27FC236}">
                <a16:creationId xmlns:a16="http://schemas.microsoft.com/office/drawing/2014/main" id="{56557488-F6AF-8DDB-4EEE-3CD064918453}"/>
              </a:ext>
            </a:extLst>
          </p:cNvPr>
          <p:cNvSpPr/>
          <p:nvPr userDrawn="1"/>
        </p:nvSpPr>
        <p:spPr>
          <a:xfrm>
            <a:off x="7432472" y="6780389"/>
            <a:ext cx="1600194" cy="1484632"/>
          </a:xfrm>
          <a:custGeom>
            <a:avLst/>
            <a:gdLst/>
            <a:ahLst/>
            <a:cxnLst/>
            <a:rect l="l" t="t" r="r" b="b"/>
            <a:pathLst>
              <a:path w="3652477" h="3652477">
                <a:moveTo>
                  <a:pt x="0" y="0"/>
                </a:moveTo>
                <a:lnTo>
                  <a:pt x="3652477" y="0"/>
                </a:lnTo>
                <a:lnTo>
                  <a:pt x="3652477" y="3652478"/>
                </a:lnTo>
                <a:lnTo>
                  <a:pt x="0" y="36524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4" name="AutoShape 22">
            <a:extLst>
              <a:ext uri="{FF2B5EF4-FFF2-40B4-BE49-F238E27FC236}">
                <a16:creationId xmlns:a16="http://schemas.microsoft.com/office/drawing/2014/main" id="{329FEBBD-7FD1-BC7A-DD7A-DAA06FC8966C}"/>
              </a:ext>
            </a:extLst>
          </p:cNvPr>
          <p:cNvSpPr/>
          <p:nvPr userDrawn="1"/>
        </p:nvSpPr>
        <p:spPr>
          <a:xfrm flipV="1">
            <a:off x="8927185" y="6971203"/>
            <a:ext cx="3629" cy="930366"/>
          </a:xfrm>
          <a:prstGeom prst="line">
            <a:avLst/>
          </a:prstGeom>
          <a:ln w="47625" cap="flat">
            <a:solidFill>
              <a:srgbClr val="E5202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7" name="Date Placeholder 23">
            <a:extLst>
              <a:ext uri="{FF2B5EF4-FFF2-40B4-BE49-F238E27FC236}">
                <a16:creationId xmlns:a16="http://schemas.microsoft.com/office/drawing/2014/main" id="{D9CABC36-375A-2086-4D6C-83F0ADE07E5E}"/>
              </a:ext>
            </a:extLst>
          </p:cNvPr>
          <p:cNvSpPr txBox="1">
            <a:spLocks/>
          </p:cNvSpPr>
          <p:nvPr userDrawn="1"/>
        </p:nvSpPr>
        <p:spPr>
          <a:xfrm>
            <a:off x="316015" y="826502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76054FEE-7774-0413-C870-4AEFDDAD4920}"/>
              </a:ext>
            </a:extLst>
          </p:cNvPr>
          <p:cNvSpPr txBox="1">
            <a:spLocks/>
          </p:cNvSpPr>
          <p:nvPr userDrawn="1"/>
        </p:nvSpPr>
        <p:spPr>
          <a:xfrm>
            <a:off x="9144000" y="7231282"/>
            <a:ext cx="5410199" cy="93036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0"/>
              <a:t>CHAPCHAP </a:t>
            </a:r>
            <a:r>
              <a:rPr lang="en-US" sz="3200" b="0">
                <a:solidFill>
                  <a:srgbClr val="CC0000"/>
                </a:solidFill>
              </a:rPr>
              <a:t>AFRICA</a:t>
            </a:r>
            <a:endParaRPr lang="en-GB" sz="3200" b="0">
              <a:solidFill>
                <a:srgbClr val="CC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876FE0-9DE2-A5A0-E7CB-0E3AFD38A45D}"/>
              </a:ext>
            </a:extLst>
          </p:cNvPr>
          <p:cNvSpPr/>
          <p:nvPr userDrawn="1"/>
        </p:nvSpPr>
        <p:spPr>
          <a:xfrm>
            <a:off x="2" y="2486001"/>
            <a:ext cx="18287998" cy="4294388"/>
          </a:xfrm>
          <a:prstGeom prst="rect">
            <a:avLst/>
          </a:prstGeom>
          <a:solidFill>
            <a:srgbClr val="E72929"/>
          </a:solidFill>
          <a:effectLst>
            <a:softEdge rad="0"/>
          </a:effectLst>
          <a:scene3d>
            <a:camera prst="orthographicFront"/>
            <a:lightRig rig="threePt" dir="t"/>
          </a:scene3d>
          <a:sp3d>
            <a:bevelB/>
          </a:sp3d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61C5DB-4475-8F40-E7A3-FFA652870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701" y="3611223"/>
            <a:ext cx="9225399" cy="1208335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endParaRPr lang="en-GB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16D115B8-30DA-715A-EB0C-8A89EE13F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571" y="4857658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D8814-223E-CF09-5E81-0FE9748D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9722985"/>
            <a:ext cx="4114800" cy="547688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2CC28BF6-842D-4DE1-A9B6-80231E3ECEDA}" type="datetime1">
              <a:rPr lang="en-GB" smtClean="0"/>
              <a:pPr/>
              <a:t>19/01/2026</a:t>
            </a:fld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DE8CF94-67DA-A91F-7F63-02D1CEFA4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943100"/>
            <a:ext cx="13677900" cy="73104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3200"/>
            </a:lvl1pPr>
            <a:lvl2pPr marL="457200" indent="0" algn="l">
              <a:lnSpc>
                <a:spcPct val="150000"/>
              </a:lnSpc>
              <a:buFont typeface="Arial" panose="020B0604020202020204" pitchFamily="34" charset="0"/>
              <a:buNone/>
              <a:defRPr sz="2800"/>
            </a:lvl2pPr>
            <a:lvl3pPr marL="914400" indent="0" algn="l">
              <a:lnSpc>
                <a:spcPct val="150000"/>
              </a:lnSpc>
              <a:buFont typeface="Arial" panose="020B0604020202020204" pitchFamily="34" charset="0"/>
              <a:buNone/>
              <a:defRPr sz="2400"/>
            </a:lvl3pPr>
            <a:lvl4pPr marL="1371600" indent="0" algn="l">
              <a:lnSpc>
                <a:spcPct val="150000"/>
              </a:lnSpc>
              <a:buFont typeface="Arial" panose="020B0604020202020204" pitchFamily="34" charset="0"/>
              <a:buNone/>
              <a:defRPr sz="2000"/>
            </a:lvl4pPr>
            <a:lvl5pPr marL="1828800" indent="0" algn="l">
              <a:lnSpc>
                <a:spcPct val="150000"/>
              </a:lnSpc>
              <a:buFont typeface="Arial" panose="020B0604020202020204" pitchFamily="34" charset="0"/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E83F8121-5A82-7489-DC7B-9DDB0EA21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83300" y="9709149"/>
            <a:ext cx="6172200" cy="54768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65A5D-D9C0-B765-3683-4684D25EC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754600" y="9728428"/>
            <a:ext cx="533400" cy="547688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B64707C5-4A78-41C6-9DD3-479A8393C5F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1DB1B8-2AD1-3A88-D65C-17796E27B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30163"/>
            <a:ext cx="7924800" cy="1150937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588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1B396-765A-3CFF-AFEB-463664C817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9739312"/>
            <a:ext cx="4114800" cy="547688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1BEE8C8D-F40D-4D30-A148-53FC70D668F6}" type="datetime1">
              <a:rPr lang="en-GB" smtClean="0"/>
              <a:pPr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6C5A9-479E-16D3-E68A-E283019CF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737951"/>
            <a:ext cx="6172200" cy="547688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888C9-D8FD-9A57-1DA5-AAF2DF468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754600" y="9704841"/>
            <a:ext cx="533400" cy="547688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B64707C5-4A78-41C6-9DD3-479A8393C5F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03F1E78-2BC8-2069-BE11-772171921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943100"/>
            <a:ext cx="13677900" cy="73104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3200"/>
            </a:lvl1pPr>
            <a:lvl2pPr marL="457200" indent="0" algn="l">
              <a:lnSpc>
                <a:spcPct val="150000"/>
              </a:lnSpc>
              <a:buFont typeface="Arial" panose="020B0604020202020204" pitchFamily="34" charset="0"/>
              <a:buNone/>
              <a:defRPr sz="2800"/>
            </a:lvl2pPr>
            <a:lvl3pPr marL="914400" indent="0" algn="l">
              <a:lnSpc>
                <a:spcPct val="150000"/>
              </a:lnSpc>
              <a:buFont typeface="Arial" panose="020B0604020202020204" pitchFamily="34" charset="0"/>
              <a:buNone/>
              <a:defRPr sz="2400"/>
            </a:lvl3pPr>
            <a:lvl4pPr marL="1371600" indent="0" algn="l">
              <a:lnSpc>
                <a:spcPct val="150000"/>
              </a:lnSpc>
              <a:buFont typeface="Arial" panose="020B0604020202020204" pitchFamily="34" charset="0"/>
              <a:buNone/>
              <a:defRPr sz="2000"/>
            </a:lvl4pPr>
            <a:lvl5pPr marL="1828800" indent="0" algn="l">
              <a:lnSpc>
                <a:spcPct val="150000"/>
              </a:lnSpc>
              <a:buFont typeface="Arial" panose="020B0604020202020204" pitchFamily="34" charset="0"/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A4A0D26-50F3-1EB4-FA48-008923A01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05800" cy="11811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3854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85F758E-9E97-70D4-9C61-BF48F9EA9EE0}"/>
              </a:ext>
            </a:extLst>
          </p:cNvPr>
          <p:cNvSpPr/>
          <p:nvPr userDrawn="1"/>
        </p:nvSpPr>
        <p:spPr>
          <a:xfrm>
            <a:off x="7308441" y="2019300"/>
            <a:ext cx="9531759" cy="6356232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38506-8358-E1C4-D5BC-5E1FC7AF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9737951"/>
            <a:ext cx="4114800" cy="5476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8AA96C0-C3D4-420B-B65E-0E228AAE9A61}" type="datetime1">
              <a:rPr lang="en-GB" smtClean="0"/>
              <a:pPr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6159D-17BE-825E-FB0B-729BA3362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83300" y="9709149"/>
            <a:ext cx="6172200" cy="5476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E71A-84C1-286E-D64F-9B71292AB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754600" y="9739312"/>
            <a:ext cx="533400" cy="547688"/>
          </a:xfrm>
          <a:prstGeom prst="rect">
            <a:avLst/>
          </a:prstGeom>
        </p:spPr>
        <p:txBody>
          <a:bodyPr/>
          <a:lstStyle/>
          <a:p>
            <a:fld id="{B64707C5-4A78-41C6-9DD3-479A8393C5F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FB249CE-3B9E-C7EB-C3C4-5BA87F15BA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23369" y="2247378"/>
            <a:ext cx="5410200" cy="28294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2E4EB8C0-1C2B-7C3F-A413-14C238703320}"/>
              </a:ext>
            </a:extLst>
          </p:cNvPr>
          <p:cNvSpPr/>
          <p:nvPr userDrawn="1"/>
        </p:nvSpPr>
        <p:spPr>
          <a:xfrm>
            <a:off x="7221005" y="2247378"/>
            <a:ext cx="10018190" cy="5792244"/>
          </a:xfrm>
          <a:custGeom>
            <a:avLst/>
            <a:gdLst/>
            <a:ahLst/>
            <a:cxnLst/>
            <a:rect l="l" t="t" r="r" b="b"/>
            <a:pathLst>
              <a:path w="7838755" h="1502856">
                <a:moveTo>
                  <a:pt x="0" y="0"/>
                </a:moveTo>
                <a:lnTo>
                  <a:pt x="7838755" y="0"/>
                </a:lnTo>
                <a:lnTo>
                  <a:pt x="7838755" y="1502856"/>
                </a:lnTo>
                <a:lnTo>
                  <a:pt x="0" y="1502856"/>
                </a:lnTo>
                <a:lnTo>
                  <a:pt x="0" y="0"/>
                </a:lnTo>
                <a:close/>
              </a:path>
            </a:pathLst>
          </a:custGeom>
          <a:noFill/>
          <a:effectLst>
            <a:outerShdw blurRad="50800" dist="38100" dir="2700000" algn="tl" rotWithShape="0">
              <a:prstClr val="black"/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AA946982-2EBD-13C8-2294-CA9DF473D8B9}"/>
              </a:ext>
            </a:extLst>
          </p:cNvPr>
          <p:cNvSpPr txBox="1"/>
          <p:nvPr/>
        </p:nvSpPr>
        <p:spPr>
          <a:xfrm>
            <a:off x="7234386" y="1683388"/>
            <a:ext cx="9917373" cy="635623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1329597-8B51-54F8-A188-AF9FDD35171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489298" y="2247377"/>
            <a:ext cx="9198502" cy="5792244"/>
          </a:xfrm>
          <a:prstGeom prst="rect">
            <a:avLst/>
          </a:prstGeom>
        </p:spPr>
        <p:txBody>
          <a:bodyPr/>
          <a:lstStyle>
            <a:lvl3pPr marL="1257300" indent="-342900" algn="l">
              <a:buFont typeface="Arial" panose="020B0604020202020204" pitchFamily="34" charset="0"/>
              <a:buChar char="•"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br>
              <a:rPr lang="en-US"/>
            </a:br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3371C180-323B-53D3-52E6-A6969BA07D3B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758850" y="5448300"/>
            <a:ext cx="5410200" cy="28294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2" name="Title Placeholder 25">
            <a:extLst>
              <a:ext uri="{FF2B5EF4-FFF2-40B4-BE49-F238E27FC236}">
                <a16:creationId xmlns:a16="http://schemas.microsoft.com/office/drawing/2014/main" id="{AC2246B6-CCE5-73B6-EE7D-58DB3F2C19DE}"/>
              </a:ext>
            </a:extLst>
          </p:cNvPr>
          <p:cNvSpPr txBox="1">
            <a:spLocks/>
          </p:cNvSpPr>
          <p:nvPr userDrawn="1"/>
        </p:nvSpPr>
        <p:spPr>
          <a:xfrm>
            <a:off x="122386" y="338379"/>
            <a:ext cx="7086600" cy="8975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>
                    <a:lumMod val="95000"/>
                  </a:schemeClr>
                </a:solidFill>
                <a:latin typeface="Arial Nova" panose="020B0504020202020204" pitchFamily="34" charset="0"/>
                <a:ea typeface="+mj-ea"/>
                <a:cs typeface="+mj-cs"/>
              </a:defRPr>
            </a:lvl1pPr>
          </a:lstStyle>
          <a:p>
            <a:endParaRPr lang="en-US"/>
          </a:p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6EA409-5B03-7A57-88F1-798248206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86" y="26745"/>
            <a:ext cx="8305800" cy="11509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2520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1F08A-B144-6A7E-25B3-67C8ECFCB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9402" y="2421728"/>
            <a:ext cx="7353299" cy="59102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5EC9A-6DDB-3641-02CD-C83CEA17B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41971" y="2421728"/>
            <a:ext cx="7353299" cy="59102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38C93-4126-76D8-A746-735D593365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657" y="9723437"/>
            <a:ext cx="4114800" cy="547688"/>
          </a:xfrm>
          <a:prstGeom prst="rect">
            <a:avLst/>
          </a:prstGeom>
        </p:spPr>
        <p:txBody>
          <a:bodyPr/>
          <a:lstStyle/>
          <a:p>
            <a:fld id="{80B999CB-57D9-411E-A161-8424AA03580B}" type="datetime1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396E0-2231-720E-8374-AB046EE4C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71" y="9748609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741AF-2A5C-4146-537F-0EEA477E4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830800" y="9722076"/>
            <a:ext cx="457200" cy="5476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4707C5-4A78-41C6-9DD3-479A8393C5F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2E5C946-D10C-D8ED-53AB-CA62FEE92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" y="75373"/>
            <a:ext cx="7899400" cy="1125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555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81795-4B96-F37F-F58C-5CBD218EC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C58A0-F31F-8CD3-BB89-AF5B0E759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835F6F-7FDE-EA0C-3841-2D797B2807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C5A64B-7F01-A784-5074-35FE889B5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FACD75-2F34-42EF-4BDC-8D8FF43882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3F23ECF6-E647-4B25-8376-1EDE8F3E3099}" type="datetime1">
              <a:rPr lang="en-GB" smtClean="0"/>
              <a:t>19/01/2026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11B095-9B1B-35E1-F0FE-7A3526C0D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359A5A-92ED-BE91-6538-52762BC21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B64707C5-4A78-41C6-9DD3-479A8393C5FF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7D322-33E9-9853-2501-B854DC7E1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" y="64835"/>
            <a:ext cx="8420100" cy="111626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017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F394B89-12D6-714C-6EF4-B268361C50B1}"/>
              </a:ext>
            </a:extLst>
          </p:cNvPr>
          <p:cNvSpPr/>
          <p:nvPr userDrawn="1"/>
        </p:nvSpPr>
        <p:spPr>
          <a:xfrm>
            <a:off x="1524000" y="1891506"/>
            <a:ext cx="15468600" cy="685800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503846-6B0B-B608-CA13-963ABCFC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79" y="9723437"/>
            <a:ext cx="4114800" cy="547688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9DED5967-0009-4816-8045-DBA6F940AB6C}" type="datetime1">
              <a:rPr lang="en-GB" smtClean="0"/>
              <a:pPr/>
              <a:t>19/01/2026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857E23-A4FD-D745-7672-A77B6DF80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2200" y="9767206"/>
            <a:ext cx="6172200" cy="547688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8CFD84-4402-B5CE-915D-3E512782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754600" y="9737951"/>
            <a:ext cx="503350" cy="54768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4707C5-4A78-41C6-9DD3-479A8393C5F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1132627D-3A09-4AD1-8B0D-D17EE0DBAFA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0586641" y="2844005"/>
            <a:ext cx="5715000" cy="495300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82C0A83E-0E90-4274-1A3C-3B452E1B8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091079" y="2556668"/>
            <a:ext cx="7775575" cy="5527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Placeholder 25">
            <a:extLst>
              <a:ext uri="{FF2B5EF4-FFF2-40B4-BE49-F238E27FC236}">
                <a16:creationId xmlns:a16="http://schemas.microsoft.com/office/drawing/2014/main" id="{CBD51343-4C0B-AE60-2696-41A301225271}"/>
              </a:ext>
            </a:extLst>
          </p:cNvPr>
          <p:cNvSpPr txBox="1">
            <a:spLocks/>
          </p:cNvSpPr>
          <p:nvPr userDrawn="1"/>
        </p:nvSpPr>
        <p:spPr>
          <a:xfrm>
            <a:off x="33679" y="783430"/>
            <a:ext cx="8382000" cy="1089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>
                    <a:lumMod val="95000"/>
                  </a:schemeClr>
                </a:solidFill>
                <a:latin typeface="Arial Nova" panose="020B05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843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36EC25C-2C95-7E98-F7F2-5E9AE1BC9F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98341"/>
            <a:ext cx="10363200" cy="10090318"/>
          </a:xfrm>
          <a:prstGeom prst="rect">
            <a:avLst/>
          </a:prstGeom>
          <a:effectLst/>
        </p:spPr>
      </p:pic>
      <p:sp>
        <p:nvSpPr>
          <p:cNvPr id="15" name="Freeform 21">
            <a:extLst>
              <a:ext uri="{FF2B5EF4-FFF2-40B4-BE49-F238E27FC236}">
                <a16:creationId xmlns:a16="http://schemas.microsoft.com/office/drawing/2014/main" id="{18CEEB58-DE92-DFF1-E46D-0FDA00C9A443}"/>
              </a:ext>
            </a:extLst>
          </p:cNvPr>
          <p:cNvSpPr/>
          <p:nvPr userDrawn="1"/>
        </p:nvSpPr>
        <p:spPr>
          <a:xfrm>
            <a:off x="5208494" y="3086646"/>
            <a:ext cx="3402106" cy="3276600"/>
          </a:xfrm>
          <a:custGeom>
            <a:avLst/>
            <a:gdLst/>
            <a:ahLst/>
            <a:cxnLst/>
            <a:rect l="l" t="t" r="r" b="b"/>
            <a:pathLst>
              <a:path w="3652477" h="3652477">
                <a:moveTo>
                  <a:pt x="0" y="0"/>
                </a:moveTo>
                <a:lnTo>
                  <a:pt x="3652477" y="0"/>
                </a:lnTo>
                <a:lnTo>
                  <a:pt x="3652477" y="3652478"/>
                </a:lnTo>
                <a:lnTo>
                  <a:pt x="0" y="36524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AutoShape 22">
            <a:extLst>
              <a:ext uri="{FF2B5EF4-FFF2-40B4-BE49-F238E27FC236}">
                <a16:creationId xmlns:a16="http://schemas.microsoft.com/office/drawing/2014/main" id="{2CDF9404-5D77-1097-CCDD-4DA93D21EF1C}"/>
              </a:ext>
            </a:extLst>
          </p:cNvPr>
          <p:cNvSpPr/>
          <p:nvPr userDrawn="1"/>
        </p:nvSpPr>
        <p:spPr>
          <a:xfrm flipV="1">
            <a:off x="8331611" y="3982630"/>
            <a:ext cx="0" cy="1484632"/>
          </a:xfrm>
          <a:prstGeom prst="line">
            <a:avLst/>
          </a:prstGeom>
          <a:ln w="47625" cap="flat">
            <a:solidFill>
              <a:srgbClr val="E5202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7" name="Date Placeholder 23">
            <a:extLst>
              <a:ext uri="{FF2B5EF4-FFF2-40B4-BE49-F238E27FC236}">
                <a16:creationId xmlns:a16="http://schemas.microsoft.com/office/drawing/2014/main" id="{AFC4075D-672D-BD31-7E98-42906DD2647F}"/>
              </a:ext>
            </a:extLst>
          </p:cNvPr>
          <p:cNvSpPr txBox="1">
            <a:spLocks/>
          </p:cNvSpPr>
          <p:nvPr userDrawn="1"/>
        </p:nvSpPr>
        <p:spPr>
          <a:xfrm>
            <a:off x="316015" y="826502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6A6578F-ACFA-6F93-E90B-514330A2C2CB}"/>
              </a:ext>
            </a:extLst>
          </p:cNvPr>
          <p:cNvSpPr txBox="1">
            <a:spLocks/>
          </p:cNvSpPr>
          <p:nvPr userDrawn="1"/>
        </p:nvSpPr>
        <p:spPr>
          <a:xfrm>
            <a:off x="8610600" y="4229100"/>
            <a:ext cx="8610600" cy="158604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6000" b="0"/>
              <a:t>THANK YOU</a:t>
            </a:r>
          </a:p>
          <a:p>
            <a:pPr algn="l"/>
            <a:endParaRPr lang="en-GB" sz="6000" b="0">
              <a:solidFill>
                <a:srgbClr val="CC0000"/>
              </a:solidFill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99C2002-08B3-8611-55AF-E96071EE4EC3}"/>
              </a:ext>
            </a:extLst>
          </p:cNvPr>
          <p:cNvSpPr/>
          <p:nvPr userDrawn="1"/>
        </p:nvSpPr>
        <p:spPr>
          <a:xfrm rot="10800000">
            <a:off x="18211800" y="1814"/>
            <a:ext cx="152400" cy="10285186"/>
          </a:xfrm>
          <a:custGeom>
            <a:avLst/>
            <a:gdLst/>
            <a:ahLst/>
            <a:cxnLst/>
            <a:rect l="l" t="t" r="r" b="b"/>
            <a:pathLst>
              <a:path w="50429" h="313179">
                <a:moveTo>
                  <a:pt x="0" y="0"/>
                </a:moveTo>
                <a:lnTo>
                  <a:pt x="50429" y="0"/>
                </a:lnTo>
                <a:lnTo>
                  <a:pt x="50429" y="313179"/>
                </a:lnTo>
                <a:lnTo>
                  <a:pt x="0" y="313179"/>
                </a:lnTo>
                <a:close/>
              </a:path>
            </a:pathLst>
          </a:custGeom>
          <a:solidFill>
            <a:srgbClr val="E72929"/>
          </a:solidFill>
        </p:spPr>
        <p:txBody>
          <a:bodyPr/>
          <a:lstStyle/>
          <a:p>
            <a:endParaRPr lang="en-GB"/>
          </a:p>
        </p:txBody>
      </p:sp>
      <p:sp>
        <p:nvSpPr>
          <p:cNvPr id="20" name="Freeform 18">
            <a:extLst>
              <a:ext uri="{FF2B5EF4-FFF2-40B4-BE49-F238E27FC236}">
                <a16:creationId xmlns:a16="http://schemas.microsoft.com/office/drawing/2014/main" id="{E9356536-22D7-73CD-AE6C-AA01C9B315DF}"/>
              </a:ext>
            </a:extLst>
          </p:cNvPr>
          <p:cNvSpPr/>
          <p:nvPr userDrawn="1"/>
        </p:nvSpPr>
        <p:spPr>
          <a:xfrm rot="10800000">
            <a:off x="-35796" y="3628"/>
            <a:ext cx="152400" cy="10285186"/>
          </a:xfrm>
          <a:custGeom>
            <a:avLst/>
            <a:gdLst/>
            <a:ahLst/>
            <a:cxnLst/>
            <a:rect l="l" t="t" r="r" b="b"/>
            <a:pathLst>
              <a:path w="50429" h="313179">
                <a:moveTo>
                  <a:pt x="0" y="0"/>
                </a:moveTo>
                <a:lnTo>
                  <a:pt x="50429" y="0"/>
                </a:lnTo>
                <a:lnTo>
                  <a:pt x="50429" y="313179"/>
                </a:lnTo>
                <a:lnTo>
                  <a:pt x="0" y="313179"/>
                </a:lnTo>
                <a:close/>
              </a:path>
            </a:pathLst>
          </a:custGeom>
          <a:solidFill>
            <a:srgbClr val="E72929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8037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13B80D-E910-61CD-34B4-0A20864BDB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E4A73634-F143-4DDE-BD48-ABF35DED1DE1}" type="datetime1">
              <a:rPr lang="en-GB" smtClean="0"/>
              <a:t>19/01/2026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2998D7-4B85-D468-6001-9A38CDFA2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16B44-0C0F-CE2E-8629-C10BC67E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B64707C5-4A78-41C6-9DD3-479A8393C5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449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F0771-9598-78F5-D312-02700A9C0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B4F32-A466-6FF7-0916-38FFA0DC8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90B1B-78A8-40AF-B858-DB652CFE2F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5FB8F31F-60DC-411A-87BB-5B11937706E2}" type="datetime1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63CA3-4589-1556-3BAF-11F81D6B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60DCB-ACB4-8469-EC29-EF709D6F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B64707C5-4A78-41C6-9DD3-479A8393C5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450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C3FB2-4AC5-5AF6-1171-AC0762A14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75" y="421277"/>
            <a:ext cx="15336925" cy="11891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3C30F1-5B7B-08E8-F9A1-8F2448110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B63CF-0C3B-F066-712E-0E85FB7068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0FC9F76-3510-4C0F-AAB2-90FF1D539AE2}" type="datetime1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B0111-B7BA-EFEA-6FBC-644FD75C9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95994-4F87-AA52-CA28-94D95E8AF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B64707C5-4A78-41C6-9DD3-479A8393C5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6853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529598-0CC4-FD71-F3D0-7D191B9B66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13DB8B-601C-EFEA-CB1C-89FD79AF8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15A93-6AEC-3F03-5A06-7170E7AED0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CCAC2A1B-95B6-4AD1-A18B-ECE5AA795B75}" type="datetime1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047BC-CA55-5A05-ED4B-2676C7A1C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3A5DE-C1E0-F324-3837-E7641AF4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B64707C5-4A78-41C6-9DD3-479A8393C5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214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6AFD3-B6A9-0335-F1C6-0A1B21BCF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076701"/>
            <a:ext cx="15849600" cy="2438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5760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8678E-BE52-7586-4592-5A2CF4EBC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15D180-2DE4-0BEA-20EC-1EEDB64CB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00" y="9739312"/>
            <a:ext cx="4114800" cy="547688"/>
          </a:xfrm>
          <a:prstGeom prst="rect">
            <a:avLst/>
          </a:prstGeom>
        </p:spPr>
        <p:txBody>
          <a:bodyPr/>
          <a:lstStyle/>
          <a:p>
            <a:fld id="{13AAC434-E23F-4F11-B46D-837221590127}" type="datetimeFigureOut">
              <a:rPr lang="en-GB" smtClean="0"/>
              <a:pPr/>
              <a:t>19/01/2026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93147-232E-C6B3-9196-9F12975832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A2374-CFF8-45CB-A143-3AFE2F22F75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996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67E89-C232-3081-E89C-82FAE35BD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8B85E-B12C-9AA8-F8BF-52CDEEF8C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A5D08-27B0-C178-998D-5F3C56AFF1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928DC68-CDE0-48A8-917A-6E41044D28D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7C5CB-8B2B-47B0-7055-F92A3E138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FB14E-BA00-6853-82F4-ED8058B3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589E-A8B8-4DCD-99BE-98CD545E5D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21302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E62F2-438E-D1B4-88C8-EE3A92A47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05974-9EF4-CC6F-7A92-AF38597FC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97B11-CC01-A4E8-8B5F-884E5B991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928DC68-CDE0-48A8-917A-6E41044D28D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433F2-C7EC-C64E-084A-CE309080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76FF6-019B-0438-A471-A8296BD60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589E-A8B8-4DCD-99BE-98CD545E5D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4286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A77CC-FAA8-F550-CB7C-ACEC8CA1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E8570-69B4-C950-F6DC-39AAFF14A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C87EC-FAF2-B858-071B-FEA12D412E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928DC68-CDE0-48A8-917A-6E41044D28D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5CAA4-FC2D-D9A6-5DD2-283078284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656FD-D1D2-322B-6D34-2918F5F21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589E-A8B8-4DCD-99BE-98CD545E5D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514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A886A-7946-F177-3FE5-AB1383331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3578A-F827-3B1A-8323-E5E8219BA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4E401-496F-9747-E996-6E677C606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F37B6-E1DF-9F2E-DBDD-DA4497385B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928DC68-CDE0-48A8-917A-6E41044D28D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67A0D-12ED-6325-2E43-1C6DE092E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17A0E-6AC8-DF5C-867D-ED19FC6C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589E-A8B8-4DCD-99BE-98CD545E5D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5403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8A04C-27D9-EA52-D5F4-D74624797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717F4-7E68-8FE5-D6E2-7B6AADC17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2E588-4F2A-4597-B510-6C5A92D2C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4623A8-41B1-2AE6-557F-024096A0A4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38029F-E8C8-DC26-D55F-86E8D17415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C9DB34-7528-B840-7241-91DA3D5BEE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928DC68-CDE0-48A8-917A-6E41044D28D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FBF692-7832-82E0-9A43-AB2BE439B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FB2F53-F4F1-484F-B3F0-97CEB40AA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589E-A8B8-4DCD-99BE-98CD545E5D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7852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4F48-459B-FFF7-CA57-FECD73DC9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19BFC4-B711-845D-C2CE-8B6F4F3884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928DC68-CDE0-48A8-917A-6E41044D28D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2FDBE-0336-16EC-5DE4-303B68674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894F25-C646-4636-6E89-796C54E90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589E-A8B8-4DCD-99BE-98CD545E5D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574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AA5D1-0482-4E0A-C062-5A2E63B004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928DC68-CDE0-48A8-917A-6E41044D28D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15B1BB-A1AA-A6B1-1A8C-2D7F17116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A3819-974D-5B38-E0B0-E205CB379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589E-A8B8-4DCD-99BE-98CD545E5D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1432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7AF4-5745-1538-648E-3E90ABDCD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EE8D1-BCA0-F633-9E41-A609C7418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2D4E7-DB86-431D-C0FD-BDD3C1AD3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98767-CC36-42BA-1F7B-175875AF86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928DC68-CDE0-48A8-917A-6E41044D28D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F018F-5E5F-3611-1542-3021F5FF3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A997C-5FF1-09E6-46F7-933103B9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589E-A8B8-4DCD-99BE-98CD545E5D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2513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2987-8C4D-7F0D-2B3A-6F3F0963A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C06A10-C3F7-6384-6D1C-C8460DDE6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238056-9D1A-83E0-FF76-30F12F9D1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F01F83-C6D1-AF75-6FCB-1AC807B240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928DC68-CDE0-48A8-917A-6E41044D28D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B6BEA-7EEE-2DF7-CBC2-4A15368C9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F6B35-79E0-D130-11C2-9CCCEEC0E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589E-A8B8-4DCD-99BE-98CD545E5D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9133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DC4AC-3A0F-126A-9608-AE0C6CFB7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4BF54-7690-7093-482A-D0E8DD958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38CF9-FCA3-0F7C-9541-35FE3BB15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928DC68-CDE0-48A8-917A-6E41044D28D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DD9AC-5439-039E-17D4-F300333C2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33513-07E7-C938-8766-B5EB5A83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589E-A8B8-4DCD-99BE-98CD545E5D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5007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3BCB7-3EE1-192C-50F6-794973885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DC4F31-DF68-745B-7D35-7FF0B0E1F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3D426-7EA6-CDCA-988B-B714A7B058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928DC68-CDE0-48A8-917A-6E41044D28D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E5885-484E-A99F-CD26-7933FA46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D720C-200C-30CB-C402-BAB6BB8BD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1589E-A8B8-4DCD-99BE-98CD545E5D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5253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03FF-0714-476D-CE5E-FC9E0ABCA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CFC021-AA92-8085-82E4-A854B458B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248CB-F82F-B380-816C-589B5C6C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46EC-A657-4274-82BA-D0A3079C20A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6344C-21A4-8AEF-303C-29680B6B6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623EF-704A-1056-B810-D8125D262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7D78-7672-43E8-A2CF-0DD7B59879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2094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0F8D1-E383-8036-26DF-B25CC92EC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AFFF43-B925-AFEB-2F1C-7B2B9F716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46EC-A657-4274-82BA-D0A3079C20A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3FA6C3-065D-BA6D-7B33-7C89E4DF5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103F1-6793-BE81-C6EA-F04149312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7D78-7672-43E8-A2CF-0DD7B59879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322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98630-1F59-49B2-946D-709D63F5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6268F-5C93-8097-53C9-9FD10725B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49633-E490-AFA1-F6F9-EF473CA14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46EC-A657-4274-82BA-D0A3079C20A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79B54-1366-0E13-DFD5-5221F47A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C40A5-5B34-6FB5-AE37-1C004131D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7D78-7672-43E8-A2CF-0DD7B59879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5279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BFCD6-2BD0-184C-F578-673AAA744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51B27-74FA-12BA-4709-3D435CD8F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91E4C-4886-4B0C-FC45-0A377EF2B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46EC-A657-4274-82BA-D0A3079C20A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6D0C-6089-8C82-1C60-3FF57D4B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03076-83C3-E003-4D32-6021141F1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7D78-7672-43E8-A2CF-0DD7B59879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5405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0D81F-9083-B3F7-3AF0-4ACB692A8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4439C-4A5D-DD68-5268-AF7DC2805C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F34BF-2A4B-A62C-94C6-1129C0500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ED239-C0BB-B8A4-FB18-652F5AE84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46EC-A657-4274-82BA-D0A3079C20A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88A12-52AD-E654-858D-E681C740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50C5B-215A-56DA-47C8-BF8E4B603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7D78-7672-43E8-A2CF-0DD7B59879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6001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11B94-8970-0039-E35E-A638522CF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F7434-1347-588C-9A82-4C67E8D16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A017E5-369C-7A2A-D899-82FF18A8B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6B5FBF-304B-1F98-94B7-D460D7D6C1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F0667D-7BB9-C97E-6A4D-07D6AD0953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A2BB65-2B9C-C5A8-0D2F-FD1E4852D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46EC-A657-4274-82BA-D0A3079C20A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F897FF-E8F2-3DE2-F1A8-60264383C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8900E2-62FF-1828-5B87-721839227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7D78-7672-43E8-A2CF-0DD7B59879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3700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8710E-9388-3473-02D2-B7C9ADC51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6AE740-986E-DBD6-382C-A10B711FF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46EC-A657-4274-82BA-D0A3079C20A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49AEA8-30E0-30C8-AFF2-29BCA4429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C3379-B8EC-6593-D35D-68ABEF74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7D78-7672-43E8-A2CF-0DD7B59879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45349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58005C-E110-1742-1F39-86B974ABE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46EC-A657-4274-82BA-D0A3079C20A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1BE0B4-1F2E-B58D-A26D-62EC56E3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23BDE-68BD-F1C1-1F2E-EFFAD700F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7D78-7672-43E8-A2CF-0DD7B59879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85702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41731-AC47-FDC0-25E1-F9E6DB9C3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26D0C-1CCC-F5F4-66A2-D19CB1981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D12C4-7396-5D20-B5DD-73347F7BE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02368-23EA-8369-0422-9C2284C51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46EC-A657-4274-82BA-D0A3079C20A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AE5E1-FCAC-6F5F-F3E7-5F8DA3AEC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0F943-1519-2296-B897-237312649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7D78-7672-43E8-A2CF-0DD7B59879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47846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5FB26-FE29-86E2-09F9-47D6A5EEC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45E741-A957-D3BE-9AC1-D1144BEEE6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96CC1D-7A80-C504-1F4D-AD29CC95A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8A44E-C782-73A9-A4DA-577663F72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46EC-A657-4274-82BA-D0A3079C20A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4D904-51C7-9F53-E6E6-F70DDA196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887D9-0FFE-C512-0EE2-A5B24B41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7D78-7672-43E8-A2CF-0DD7B59879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27143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94196-B0F0-01EF-34BE-A686FC7C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449FA-08A9-C91F-1768-E86FAE56D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FA90C-E136-9C6B-2AE8-A2249B4F3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46EC-A657-4274-82BA-D0A3079C20A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E0208-8BDA-14BB-5489-7AE2FF0CC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EEB8C-956C-5BC0-0C8C-4F2D2A248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7D78-7672-43E8-A2CF-0DD7B59879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8044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EF8E16-DAF8-1DC8-1052-408D8129AC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6AF1A8-DDF9-A217-D568-B7EE0B86D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12F8F-F0FC-871E-8673-8565EA55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746EC-A657-4274-82BA-D0A3079C20A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27102-3BF2-D895-33F4-71364B49C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8E245-6F69-B2CF-52B2-D737062DE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7D78-7672-43E8-A2CF-0DD7B59879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80916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96BFD-C5BC-4E7E-F681-628B36165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A978E-34BA-2A87-739C-AA0FDDD8B8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4EE81-64F1-2C3B-3E3B-78D396FC3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6AF7-A988-456E-9D27-B5E15FF04647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784A3-7ECC-92E5-4B75-F8B19690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09187-2A51-8E51-BD06-A66C1B9D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2FA3-A4A1-41FE-8EAE-68FED9EAE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92282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7F911-C49F-5715-5AED-653103562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348B6-EF82-13EB-856D-8CC67A8D3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6AFFA-0055-1BA5-DF2F-2DEFC7BB9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6AF7-A988-456E-9D27-B5E15FF04647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CE4D1-CE41-ACE8-FF70-B071EA7CC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B8521-3638-351D-CD25-8D2F684C2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2FA3-A4A1-41FE-8EAE-68FED9EAE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06239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9A3D5-28C5-D780-EC1B-D3C968CFE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0CC71-5C51-8AD6-8562-AE8BD5A72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9F6D3-840A-2E28-FCE2-719754A73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6AF7-A988-456E-9D27-B5E15FF04647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61D88-7863-C325-BD01-D728E4A2C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D70E8-6956-A2A5-340F-C7F5D7AF2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2FA3-A4A1-41FE-8EAE-68FED9EAE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03741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BE6FE-DBB9-748D-2860-91325DDD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A7802-E358-0E38-8157-D9BF4CB47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AEDA30-42C0-9872-9084-C89795895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6A8FB-1C94-6D66-01AC-A62308E1D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6AF7-A988-456E-9D27-B5E15FF04647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3CA36-FF18-127D-AB53-36ECFF947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3A738-95F4-9F99-6C16-2BDA83471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2FA3-A4A1-41FE-8EAE-68FED9EAE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39145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9B1D7-6DE8-A575-C298-B6B656E1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52863-885E-0A7A-91E7-79DAA5A9B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23F10-872E-ED83-C1EE-075473DC1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2F2151-8A10-572A-825B-93BBFDE761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755539-3340-0CC3-5A9F-7E4D124A63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D17639-68FD-F656-49A6-768E0F8F0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6AF7-A988-456E-9D27-B5E15FF04647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688ED9-65AE-E648-F822-81F8A815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8AC227-6306-5267-0915-DD829DB56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2FA3-A4A1-41FE-8EAE-68FED9EAE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08266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F5037-2238-2401-3209-2350E4107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AF6BCD-4218-700F-7251-AAB5D0B70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6AF7-A988-456E-9D27-B5E15FF04647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36D14-9FD1-90C2-1A3B-08BAA88DA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A69C53-B5DF-74AC-D215-295B21368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2FA3-A4A1-41FE-8EAE-68FED9EAE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55266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C6A252-B986-B745-0511-585D11BC4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6AF7-A988-456E-9D27-B5E15FF04647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B58C74-F246-A3CA-6AF7-A68E09AE0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72E61-F20A-C8EF-DFA6-BD5A1025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2FA3-A4A1-41FE-8EAE-68FED9EAE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2027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85D0F-2441-FB65-AE65-9138FBEF4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D99F8-C17C-A154-A43D-288D6A84F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5D67A3-FB3F-A647-0F39-71A408DFA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C73B7-8E06-B932-D892-5183CA825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6AF7-A988-456E-9D27-B5E15FF04647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3F18D-BE6B-1D6F-D28B-9B29A0B3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BFBAC-07CB-84C6-893A-4753BFD4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2FA3-A4A1-41FE-8EAE-68FED9EAE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431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9E9AE-FE78-54A0-9343-61BEFE982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BDC77F-F9C2-CAC1-2665-29507F8FD1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A8DCDA-AA67-7EFB-EE97-228C473D8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177CB-B51E-D02E-C7E9-5FEB98E38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6AF7-A988-456E-9D27-B5E15FF04647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2D9D5-58B8-DF7A-C5BE-29E64F648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9ED54-D0A2-4513-A8D5-EF05688C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2FA3-A4A1-41FE-8EAE-68FED9EAE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9436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DBDC5-6DDD-31BE-6292-9E1B588DA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CCC4B-2910-A8D0-ADA6-E9A169746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94EFD-DCA9-2F86-842F-446EEC7C7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6AF7-A988-456E-9D27-B5E15FF04647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9BFB1-AF98-27BC-182F-48351A151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3119D-DC2C-0E09-B1FF-A4F41A2BA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2FA3-A4A1-41FE-8EAE-68FED9EAE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27098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D6AEDF-278D-C23B-0753-942B6F44D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2CCD2-DEA0-90A6-9C24-7198AC843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39FC5-A327-709D-1668-06E1B5350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6AF7-A988-456E-9D27-B5E15FF04647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9B8C6-C1A6-6EF5-708E-DABA52E6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76660-FCAD-BCC7-8EC8-668B83589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2FA3-A4A1-41FE-8EAE-68FED9EAE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8911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9BB08-9B3A-831D-65AD-9D93EBDBD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0498E2-CA9F-713A-28C5-E10764903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79370-BB22-9C04-7F1F-046B1F73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FA8B1-7E4A-4100-B3A0-9B4E0E70CA28}" type="datetime1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50EBA-CDAC-522B-706E-181ED01D4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C932E-9FFF-8DCC-B9BA-D1006B600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2BF0-B32B-4F5F-9242-AE9AF0DF69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7661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48DBB-C30D-A07B-72D1-878EE45D2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9A1C2-170E-99BF-F0BB-BC1A01ADD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6D2F7-4EEF-457C-88AD-381B6C2A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7E23-4F84-4AB4-A909-8DB55E2D7C60}" type="datetime1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F3B6C-7AF3-B029-25BD-A4F1716C7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82B31-92A7-3794-5900-38D8C26ED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2BF0-B32B-4F5F-9242-AE9AF0DF69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53532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73D83-CCAB-7A7D-CD66-23ED2D168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369B0-38B1-3EE6-7A22-A69CB3F3C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359AD-FF9F-A7B4-3D30-101BAEB0D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E8EB6-F731-42BE-B07C-08B7A1D8F96D}" type="datetime1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832C7-BAC7-FA5B-0D37-29A39A0A4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C0178-51E0-86C9-81F5-FCD43AA4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2BF0-B32B-4F5F-9242-AE9AF0DF69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82929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DF625-7530-3BF0-59B4-770256300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F2CFB-A8C6-2C94-F9B3-2D1DF9161E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F709DF-C790-88EF-3464-5F5233431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D562C-AA29-3890-73B7-AAE535D7F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D4D1B-7642-4A01-883B-F2C96247FF8D}" type="datetime1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E28F5-9F0B-2F86-1FA1-CF5AF2BCE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F89C8-4860-24AD-CA55-9DD4A09A2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2BF0-B32B-4F5F-9242-AE9AF0DF69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73368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3C6C1-60B5-7485-1CDB-FB68390D9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E5C27-828B-4D2B-01B4-BF64B2B76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48898-EB39-D64C-B0C9-E9242BB40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53F23-4768-B310-79A6-78C8009F2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7A1ABB-EF63-D5ED-92F9-4DC722CE9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0E7A83-FF20-6A2F-BC17-3D78C81ED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38FF4-FB32-497E-8418-A06D8BDC394D}" type="datetime1">
              <a:rPr lang="en-GB" smtClean="0"/>
              <a:t>19/01/2026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97B416-0A24-0745-5527-D5F866FA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041B36-ED25-E5B6-232A-4D0D6AF4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2BF0-B32B-4F5F-9242-AE9AF0DF69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14895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CA5A-B051-17E5-2A55-ED8A9256A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6F3056-6FD2-4948-0267-22FB3A9FB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7741D-BC8C-4F8C-A667-8FD28B3ED239}" type="datetime1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6F051-4C67-580F-F705-7838A1A0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3C852C-0F1A-11F1-C39B-287F5A552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2BF0-B32B-4F5F-9242-AE9AF0DF69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29210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FF8950-9A41-22AC-ADB4-739DDF137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48C5D-7A50-4269-A6D3-FB5F66EB74B7}" type="datetime1">
              <a:rPr lang="en-GB" smtClean="0"/>
              <a:t>19/01/2026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B48B5B-D01C-6A39-B23F-2DE740C11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BF436-1F20-79DB-2626-E932C7773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2BF0-B32B-4F5F-9242-AE9AF0DF69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18550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28DD1-175B-FB94-4DD0-9E8090BED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50289-9978-2C7F-933C-3043F82F6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EE1DA5-80E7-D48D-3D80-118882A2E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16F5B-9579-89B0-87F0-9E8980806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173F-AF08-4AA1-AB7A-A07743D1DFF5}" type="datetime1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E2F18-38F0-2ED7-F288-D41BC7C42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60A52-E78C-9A3F-20C2-AE33AA13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2BF0-B32B-4F5F-9242-AE9AF0DF69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0263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CE8DE-A55B-47C1-73E0-249EF4AAE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04787"/>
            <a:ext cx="12760325" cy="127793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887460-FE13-AA26-A850-169DBA608D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002673" y="3086099"/>
            <a:ext cx="6761327" cy="5718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1C6F6-BE19-C98F-E902-E95902599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8721726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FE38B-0B48-EF2A-5635-5319F9798C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9739312"/>
            <a:ext cx="2438400" cy="547688"/>
          </a:xfrm>
        </p:spPr>
        <p:txBody>
          <a:bodyPr/>
          <a:lstStyle/>
          <a:p>
            <a:fld id="{0CAFCDA1-475E-422E-A4F8-DC9249642B50}" type="datetime1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43770-17B4-5204-1114-78CD0F01F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54322" y="9734123"/>
            <a:ext cx="3717878" cy="547688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E38AB-9504-2DBC-1A8C-87D898060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31435" y="9734123"/>
            <a:ext cx="4114800" cy="547688"/>
          </a:xfrm>
        </p:spPr>
        <p:txBody>
          <a:bodyPr/>
          <a:lstStyle/>
          <a:p>
            <a:fld id="{37B22BF0-B32B-4F5F-9242-AE9AF0DF695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reeform 21">
            <a:extLst>
              <a:ext uri="{FF2B5EF4-FFF2-40B4-BE49-F238E27FC236}">
                <a16:creationId xmlns:a16="http://schemas.microsoft.com/office/drawing/2014/main" id="{7E5D0FAA-772F-B630-81C6-A8F3D0300315}"/>
              </a:ext>
            </a:extLst>
          </p:cNvPr>
          <p:cNvSpPr/>
          <p:nvPr userDrawn="1"/>
        </p:nvSpPr>
        <p:spPr>
          <a:xfrm>
            <a:off x="15346971" y="-135672"/>
            <a:ext cx="1683729" cy="1638300"/>
          </a:xfrm>
          <a:custGeom>
            <a:avLst/>
            <a:gdLst/>
            <a:ahLst/>
            <a:cxnLst/>
            <a:rect l="l" t="t" r="r" b="b"/>
            <a:pathLst>
              <a:path w="3652477" h="3652477">
                <a:moveTo>
                  <a:pt x="0" y="0"/>
                </a:moveTo>
                <a:lnTo>
                  <a:pt x="3652477" y="0"/>
                </a:lnTo>
                <a:lnTo>
                  <a:pt x="3652477" y="3652478"/>
                </a:lnTo>
                <a:lnTo>
                  <a:pt x="0" y="3652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40082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3AF11-AE2D-4153-D718-3B4EC67D9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23996-2B8E-3790-3569-060BBD38F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056DB-40E2-C617-540E-007ECCA2A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35C33-00B4-46E1-ACC1-EFDEE110F0DC}" type="datetime1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A9D54-427C-6D6D-3A87-6C982B819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71789-0571-99CE-0373-239C71FB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2BF0-B32B-4F5F-9242-AE9AF0DF69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469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9C3C99-361E-373A-81E7-6579D1325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F28F19-7250-5FBD-2AFF-A84FD777D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FA946-DA17-1E8E-E496-B71A4B257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83555-C439-4FE1-A5C0-9D25B565F4C8}" type="datetime1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13571-639C-3FEF-EF18-CCD8FBB66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091C0-5EE1-E990-2F25-FE84ECC5F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22BF0-B32B-4F5F-9242-AE9AF0DF69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26933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DB542-1E5C-0E91-30B7-A48B80DC6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FFEB19-646E-49EB-0C31-8973C84CE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9E0A9-2CFC-FF99-1B51-F9BE8418A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CE514-450D-4800-B771-8039A9C4A5A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11E45-F974-BC78-4910-652A08AD7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F36DC-0DB2-187C-354D-40851E306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B760-BC1F-4407-8775-0480874FD2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691053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DA557-3EDD-6213-86F0-42913CA1D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A19F3-B899-6A82-154C-FE719C275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51BE0-7C4C-EAA0-8FAB-5FACBC1A2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CE514-450D-4800-B771-8039A9C4A5A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FDC56-D0E9-A96B-3A2E-EFE992CC4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63791-9B43-29EF-3593-B7AF40C56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B760-BC1F-4407-8775-0480874FD2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97286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53130-542B-9BBB-2A3E-8CB9D3DE9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B4D62-A1BE-6751-8E57-D1E7C624C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4DD4F-D404-0BE7-CAE3-21449E62F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CE514-450D-4800-B771-8039A9C4A5A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56F83-532A-B46B-FC66-3DF1F70A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6891C-1A61-97E4-C2C4-F530B0519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B760-BC1F-4407-8775-0480874FD2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54381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62D93-65D3-A875-EBB1-A578B4C2D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D2723-BB64-ABA2-0A35-2C2F6F0C65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045390-F81E-0109-59CB-C4B6C2A78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73601-9ED8-1230-A11E-3996214CF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CE514-450D-4800-B771-8039A9C4A5A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611A8-FB27-32AC-69AA-034CF83F9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712BA-B11D-F9D9-4987-CB931057F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B760-BC1F-4407-8775-0480874FD2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450792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2A859-7C52-C43F-0D0C-24CAF48D9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6BE61-36E9-9B77-3C42-DF60C1456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46931-62A4-623F-7864-643A13E68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205091-73D9-B1DC-D3F0-08A24F00B7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930408-9232-1EC7-E232-BDE29D62B6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ED50DC-1612-D579-7915-FF7CBCDC2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CE514-450D-4800-B771-8039A9C4A5A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AAB7B0-C03C-E883-8BB8-F8BBD5F07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A6CEF3-06D1-7E7B-C43F-F0E98C9A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B760-BC1F-4407-8775-0480874FD2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70602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26E2-D639-C43C-5DC7-DDACB502D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0AED0-2442-8CB1-4822-4AA77D7D2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CE514-450D-4800-B771-8039A9C4A5A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AA258-7AFE-D194-81DA-634212FE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308D47-3646-4C14-CFCD-147A111FE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B760-BC1F-4407-8775-0480874FD2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07637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677523-1A08-1A11-2472-B74F0B7C5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CE514-450D-4800-B771-8039A9C4A5A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CD30B-FBB2-106E-50F5-BB79B2DC1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5EBF4-4947-D1F4-72F0-2B5D68F4E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B760-BC1F-4407-8775-0480874FD2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74782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1D978-BA45-315E-880F-E4B6B6CE7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D18C9-4687-4CD2-2B41-12C8CD5F9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41383-E4C6-607C-EFFF-50894B0D7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71784-7AD3-B09D-C77D-8463E69BA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CE514-450D-4800-B771-8039A9C4A5A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54A48-B7E5-7FBA-5D13-5A915861E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DD0AF-D928-A98A-7B9D-C24ACA623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B760-BC1F-4407-8775-0480874FD2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29664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D80AC-3BF5-8DAC-1FBE-50C47272A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42223F-9809-D3AC-EB8D-E2CA5F343A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A89B0-10A8-2E5E-5F39-CF659E206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87296-97A3-C3D3-4C7D-EA9B835F5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CE514-450D-4800-B771-8039A9C4A5A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AC883-20B4-F80C-4455-076593885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96125-08FA-EACF-6751-7D645DABC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B760-BC1F-4407-8775-0480874FD2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91184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6ED32-470A-4158-DD2E-E10608146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EC47E-5615-0DF9-EA9E-58FE5CD38A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ACFA4-DB10-9B0B-BBBE-A73EB6DF0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CE514-450D-4800-B771-8039A9C4A5A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3ED8C-DD16-22DE-C227-0B65F91F2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C09D7-2179-27B8-0435-0C0A1850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B760-BC1F-4407-8775-0480874FD2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95596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A26E0D-84D6-DF1A-5193-8A3D302AAB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238C2E-E2C1-D2A0-8084-D92497904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1465A-92FF-39E9-9694-870E4A6D5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CE514-450D-4800-B771-8039A9C4A5A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F839F-F766-790D-D406-77F36C3C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E80B0-E17D-70F6-9B72-3CACE46B1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2B760-BC1F-4407-8775-0480874FD2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587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1">
            <a:extLst>
              <a:ext uri="{FF2B5EF4-FFF2-40B4-BE49-F238E27FC236}">
                <a16:creationId xmlns:a16="http://schemas.microsoft.com/office/drawing/2014/main" id="{6E5D32E9-C633-7732-C2EF-AD853DE95FBC}"/>
              </a:ext>
            </a:extLst>
          </p:cNvPr>
          <p:cNvSpPr/>
          <p:nvPr userDrawn="1"/>
        </p:nvSpPr>
        <p:spPr>
          <a:xfrm>
            <a:off x="15749846" y="-342900"/>
            <a:ext cx="2411154" cy="2395827"/>
          </a:xfrm>
          <a:custGeom>
            <a:avLst/>
            <a:gdLst/>
            <a:ahLst/>
            <a:cxnLst/>
            <a:rect l="l" t="t" r="r" b="b"/>
            <a:pathLst>
              <a:path w="3652477" h="3652477">
                <a:moveTo>
                  <a:pt x="0" y="0"/>
                </a:moveTo>
                <a:lnTo>
                  <a:pt x="3652477" y="0"/>
                </a:lnTo>
                <a:lnTo>
                  <a:pt x="3652477" y="3652478"/>
                </a:lnTo>
                <a:lnTo>
                  <a:pt x="0" y="36524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8" name="Freeform 18">
            <a:extLst>
              <a:ext uri="{FF2B5EF4-FFF2-40B4-BE49-F238E27FC236}">
                <a16:creationId xmlns:a16="http://schemas.microsoft.com/office/drawing/2014/main" id="{190836E0-6C8A-14C1-7E24-1EA711A29295}"/>
              </a:ext>
            </a:extLst>
          </p:cNvPr>
          <p:cNvSpPr/>
          <p:nvPr userDrawn="1"/>
        </p:nvSpPr>
        <p:spPr>
          <a:xfrm rot="10800000">
            <a:off x="17249336" y="9118372"/>
            <a:ext cx="1038664" cy="1181101"/>
          </a:xfrm>
          <a:custGeom>
            <a:avLst/>
            <a:gdLst/>
            <a:ahLst/>
            <a:cxnLst/>
            <a:rect l="l" t="t" r="r" b="b"/>
            <a:pathLst>
              <a:path w="50429" h="313179">
                <a:moveTo>
                  <a:pt x="0" y="0"/>
                </a:moveTo>
                <a:lnTo>
                  <a:pt x="50429" y="0"/>
                </a:lnTo>
                <a:lnTo>
                  <a:pt x="50429" y="313179"/>
                </a:lnTo>
                <a:lnTo>
                  <a:pt x="0" y="313179"/>
                </a:lnTo>
                <a:close/>
              </a:path>
            </a:pathLst>
          </a:custGeom>
          <a:solidFill>
            <a:srgbClr val="E72929"/>
          </a:solidFill>
        </p:spPr>
        <p:txBody>
          <a:bodyPr/>
          <a:lstStyle/>
          <a:p>
            <a:endParaRPr lang="en-GB"/>
          </a:p>
        </p:txBody>
      </p:sp>
      <p:sp>
        <p:nvSpPr>
          <p:cNvPr id="29" name="Freeform 18">
            <a:extLst>
              <a:ext uri="{FF2B5EF4-FFF2-40B4-BE49-F238E27FC236}">
                <a16:creationId xmlns:a16="http://schemas.microsoft.com/office/drawing/2014/main" id="{4EF2C7DD-05B1-FFE6-D39B-3CEB9584856A}"/>
              </a:ext>
            </a:extLst>
          </p:cNvPr>
          <p:cNvSpPr/>
          <p:nvPr userDrawn="1"/>
        </p:nvSpPr>
        <p:spPr>
          <a:xfrm rot="16200000">
            <a:off x="3617698" y="-3617728"/>
            <a:ext cx="1248204" cy="8483600"/>
          </a:xfrm>
          <a:custGeom>
            <a:avLst/>
            <a:gdLst/>
            <a:ahLst/>
            <a:cxnLst/>
            <a:rect l="l" t="t" r="r" b="b"/>
            <a:pathLst>
              <a:path w="50429" h="313179">
                <a:moveTo>
                  <a:pt x="0" y="0"/>
                </a:moveTo>
                <a:lnTo>
                  <a:pt x="50429" y="0"/>
                </a:lnTo>
                <a:lnTo>
                  <a:pt x="50429" y="313179"/>
                </a:lnTo>
                <a:lnTo>
                  <a:pt x="0" y="313179"/>
                </a:lnTo>
                <a:close/>
              </a:path>
            </a:pathLst>
          </a:custGeom>
          <a:solidFill>
            <a:srgbClr val="E72929"/>
          </a:solidFill>
        </p:spPr>
        <p:txBody>
          <a:bodyPr/>
          <a:lstStyle/>
          <a:p>
            <a:endParaRPr lang="en-GB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A4FC314-D611-F519-2641-F5F58E184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754600" y="9681481"/>
            <a:ext cx="508000" cy="6037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ECA2374-CFF8-45CB-A143-3AFE2F22F75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AB8F6C5-16E4-1F49-4FFF-90C5A2BF2F10}"/>
              </a:ext>
            </a:extLst>
          </p:cNvPr>
          <p:cNvSpPr txBox="1">
            <a:spLocks/>
          </p:cNvSpPr>
          <p:nvPr userDrawn="1"/>
        </p:nvSpPr>
        <p:spPr>
          <a:xfrm>
            <a:off x="1524000" y="1882775"/>
            <a:ext cx="9144000" cy="4216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solidFill>
                <a:schemeClr val="tx1"/>
              </a:solidFill>
              <a:latin typeface="Sylfae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854EC-9D33-38DF-564A-5E3922F85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196306"/>
            <a:ext cx="150495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F1C38CBF-3174-C1D8-6C19-81421CB1B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55279"/>
            <a:ext cx="7899400" cy="1125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4948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52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84" r:id="rId8"/>
    <p:sldLayoutId id="2147483666" r:id="rId9"/>
    <p:sldLayoutId id="2147483667" r:id="rId10"/>
    <p:sldLayoutId id="2147483668" r:id="rId11"/>
    <p:sldLayoutId id="2147483670" r:id="rId12"/>
    <p:sldLayoutId id="2147483671" r:id="rId13"/>
    <p:sldLayoutId id="2147483685" r:id="rId14"/>
    <p:sldLayoutId id="2147483724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>
              <a:lumMod val="95000"/>
            </a:schemeClr>
          </a:solidFill>
          <a:latin typeface="Arial Nova" panose="020B05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107EE-5D3E-24CF-0A02-D988996BA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7982A-E674-D81C-2402-DB46CE36C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A0686-5440-7DF7-D442-7ADA003CEC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1589E-A8B8-4DCD-99BE-98CD545E5D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922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21361-91D8-F239-5E99-CBA1D349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045DB-E9D3-6654-178C-CD8476FEC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58C2E-57D2-DE74-C60B-F01364843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D746EC-A657-4274-82BA-D0A3079C20A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1BBC9-B23B-DEE5-837A-18D558933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08EC8-B506-9EA3-0C00-7C32F129A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237D78-7672-43E8-A2CF-0DD7B59879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3299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23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20F11C-9512-2165-0FF6-A1192A648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24645-C12F-CC36-E107-EBA7F7F86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7BA85-AB8A-57E2-34B0-6C7631D660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C6AF7-A988-456E-9D27-B5E15FF04647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BA8FC-6A6E-D51F-8FA1-90606F7147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46071-3ABD-1ABD-1722-9D4C4C7F7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02FA3-A4A1-41FE-8EAE-68FED9EAE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864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33B7C1-DCA7-BD20-572B-73C209D38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DBCA9-AB8C-A72D-0AD5-7E0263C79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6BD02-585A-6BDE-8F5F-2D78B0E89A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260CC-866C-4527-9B99-CB47E49CAAA6}" type="datetime1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38BF7-6F8D-92D4-318C-7ADEE7CA0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9E289-0EDE-7B7F-3E66-E5F1CB599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22BF0-B32B-4F5F-9242-AE9AF0DF69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318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D796E2-2670-7E72-CE63-3D5530FAA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60D49-1D90-2E3B-28CF-B9045263D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4D983-0A55-C122-585E-B4CAEEE98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CE514-450D-4800-B771-8039A9C4A5A0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28D03-77F8-AE5F-9C92-274B0EC89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A66D0-A4FD-5E3B-3A6E-D0FECF495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2B760-BC1F-4407-8775-0480874FD2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0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3.xml"/><Relationship Id="rId5" Type="http://schemas.openxmlformats.org/officeDocument/2006/relationships/image" Target="../media/image7.png"/><Relationship Id="rId4" Type="http://schemas.openxmlformats.org/officeDocument/2006/relationships/customXml" Target="../ink/ink2.xml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7.xml"/><Relationship Id="rId5" Type="http://schemas.openxmlformats.org/officeDocument/2006/relationships/image" Target="../media/image7.png"/><Relationship Id="rId4" Type="http://schemas.openxmlformats.org/officeDocument/2006/relationships/customXml" Target="../ink/ink6.xml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3BF41-C78C-685E-AB57-C12923389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611223"/>
            <a:ext cx="15011399" cy="1208335"/>
          </a:xfrm>
        </p:spPr>
        <p:txBody>
          <a:bodyPr/>
          <a:lstStyle/>
          <a:p>
            <a:r>
              <a:rPr lang="en-GB" sz="6000"/>
              <a:t>Weekly Updates – UNCDF PROJECT 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B7B2E77C-9D62-5E53-43DD-1BBA2AE8DA57}"/>
              </a:ext>
            </a:extLst>
          </p:cNvPr>
          <p:cNvSpPr txBox="1">
            <a:spLocks/>
          </p:cNvSpPr>
          <p:nvPr/>
        </p:nvSpPr>
        <p:spPr>
          <a:xfrm>
            <a:off x="5105400" y="5107675"/>
            <a:ext cx="6324600" cy="1565045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>
                    <a:lumMod val="95000"/>
                  </a:schemeClr>
                </a:solidFill>
                <a:latin typeface="Arial Nova" panose="020B0504020202020204" pitchFamily="34" charset="0"/>
                <a:ea typeface="+mj-ea"/>
                <a:cs typeface="+mj-cs"/>
              </a:defRPr>
            </a:lvl1pPr>
          </a:lstStyle>
          <a:p>
            <a:r>
              <a:rPr lang="en-GB" sz="2800">
                <a:latin typeface="Arial Nova"/>
              </a:rPr>
              <a:t>Presented By: </a:t>
            </a:r>
            <a:r>
              <a:rPr lang="en-GB" sz="2800" err="1">
                <a:latin typeface="Arial Nova"/>
              </a:rPr>
              <a:t>ChapChap</a:t>
            </a:r>
            <a:r>
              <a:rPr lang="en-GB" sz="2800">
                <a:latin typeface="Arial Nova"/>
              </a:rPr>
              <a:t>  Africa </a:t>
            </a:r>
          </a:p>
          <a:p>
            <a:r>
              <a:rPr lang="en-GB" sz="2800">
                <a:latin typeface="Arial Nova"/>
              </a:rPr>
              <a:t>Title: UNCDF Project </a:t>
            </a:r>
          </a:p>
          <a:p>
            <a:r>
              <a:rPr lang="en-GB" sz="2800">
                <a:latin typeface="Arial Nova"/>
              </a:rPr>
              <a:t>Date: December 18th, 2025</a:t>
            </a:r>
          </a:p>
        </p:txBody>
      </p:sp>
    </p:spTree>
    <p:extLst>
      <p:ext uri="{BB962C8B-B14F-4D97-AF65-F5344CB8AC3E}">
        <p14:creationId xmlns:p14="http://schemas.microsoft.com/office/powerpoint/2010/main" val="411303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6612C8-681B-E0AB-5A95-8C247D872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8BF6-842D-4DE1-A9B6-80231E3ECEDA}" type="datetime1">
              <a:rPr lang="en-GB" smtClean="0"/>
              <a:t>19/01/2026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52121-DCB8-FA59-766E-75288FD8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707C5-4A78-41C6-9DD3-479A8393C5FF}" type="slidenum">
              <a:rPr lang="en-GB" smtClean="0"/>
              <a:t>2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AFBA6E2-00C4-A933-9590-5BD47867D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067" y="288955"/>
            <a:ext cx="6824933" cy="762749"/>
          </a:xfrm>
        </p:spPr>
        <p:txBody>
          <a:bodyPr/>
          <a:lstStyle/>
          <a:p>
            <a:r>
              <a:rPr lang="en-GB"/>
              <a:t>AGENDA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445C999-7CA3-22F3-C56C-B47050FD61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4863701"/>
              </p:ext>
            </p:extLst>
          </p:nvPr>
        </p:nvGraphicFramePr>
        <p:xfrm>
          <a:off x="2130593" y="1837824"/>
          <a:ext cx="14023807" cy="7415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6023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4BC426-09FA-B31E-A19E-128B9376E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8BF6-842D-4DE1-A9B6-80231E3ECEDA}" type="datetime1">
              <a:rPr lang="en-GB" smtClean="0"/>
              <a:pPr/>
              <a:t>19/01/2026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604427-E38D-F04A-898A-2B934F33D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0485" y="6900824"/>
            <a:ext cx="15409161" cy="2822920"/>
          </a:xfrm>
        </p:spPr>
        <p:txBody>
          <a:bodyPr lIns="91440" tIns="45720" rIns="91440" bIns="45720" anchor="t"/>
          <a:lstStyle/>
          <a:p>
            <a:pPr marL="457200" indent="-457200">
              <a:buFont typeface="Wingdings"/>
              <a:buChar char="Ø"/>
            </a:pPr>
            <a:r>
              <a:rPr lang="en-GB" sz="2800" dirty="0">
                <a:solidFill>
                  <a:schemeClr val="tx1"/>
                </a:solidFill>
              </a:rPr>
              <a:t>Districts covered include: Kampala, Mukono, Wakiso, Gulu, </a:t>
            </a:r>
            <a:r>
              <a:rPr lang="en-GB" sz="2800" dirty="0" err="1">
                <a:solidFill>
                  <a:schemeClr val="tx1"/>
                </a:solidFill>
              </a:rPr>
              <a:t>Nwoya</a:t>
            </a:r>
            <a:r>
              <a:rPr lang="en-GB" sz="2800" dirty="0">
                <a:solidFill>
                  <a:schemeClr val="tx1"/>
                </a:solidFill>
              </a:rPr>
              <a:t>, Omoro, Busia, Mbale, Pallisa, </a:t>
            </a:r>
            <a:r>
              <a:rPr lang="en-GB" sz="2800" dirty="0" err="1">
                <a:solidFill>
                  <a:schemeClr val="tx1"/>
                </a:solidFill>
              </a:rPr>
              <a:t>Bulambuli</a:t>
            </a:r>
            <a:r>
              <a:rPr lang="en-GB" sz="2800" dirty="0">
                <a:solidFill>
                  <a:schemeClr val="tx1"/>
                </a:solidFill>
              </a:rPr>
              <a:t>, Kapchorwa, </a:t>
            </a:r>
            <a:r>
              <a:rPr lang="en-GB" sz="2800" dirty="0" err="1">
                <a:solidFill>
                  <a:schemeClr val="tx1"/>
                </a:solidFill>
              </a:rPr>
              <a:t>Sironko</a:t>
            </a:r>
            <a:r>
              <a:rPr lang="en-GB" sz="2800" dirty="0">
                <a:solidFill>
                  <a:schemeClr val="tx1"/>
                </a:solidFill>
              </a:rPr>
              <a:t>, Tororo; and </a:t>
            </a:r>
            <a:r>
              <a:rPr lang="en-GB" sz="2800" dirty="0" err="1">
                <a:solidFill>
                  <a:schemeClr val="tx1"/>
                </a:solidFill>
              </a:rPr>
              <a:t>ChapChap</a:t>
            </a:r>
            <a:r>
              <a:rPr lang="en-GB" sz="2800" dirty="0">
                <a:solidFill>
                  <a:schemeClr val="tx1"/>
                </a:solidFill>
              </a:rPr>
              <a:t> Agent in Mukono and Wakiso</a:t>
            </a:r>
          </a:p>
          <a:p>
            <a:pPr marL="457200" indent="-457200">
              <a:buFont typeface="Wingdings"/>
              <a:buChar char="Ø"/>
            </a:pPr>
            <a:endParaRPr lang="en-GB" sz="2800">
              <a:solidFill>
                <a:schemeClr val="tx1"/>
              </a:solidFill>
            </a:endParaRPr>
          </a:p>
          <a:p>
            <a:pPr marL="457200" indent="-457200">
              <a:buFont typeface="Wingdings"/>
              <a:buChar char="Ø"/>
            </a:pPr>
            <a:r>
              <a:rPr lang="en-GB" sz="2800" dirty="0">
                <a:solidFill>
                  <a:schemeClr val="tx1"/>
                </a:solidFill>
              </a:rPr>
              <a:t>Trainings were conducted in collaboration with Stanbic Incubator, Tech Challenges, </a:t>
            </a:r>
            <a:r>
              <a:rPr lang="en-GB" sz="2800" dirty="0" err="1">
                <a:solidFill>
                  <a:schemeClr val="tx1"/>
                </a:solidFill>
              </a:rPr>
              <a:t>MKazipreneur</a:t>
            </a:r>
            <a:r>
              <a:rPr lang="en-GB" sz="2800" dirty="0">
                <a:solidFill>
                  <a:schemeClr val="tx1"/>
                </a:solidFill>
              </a:rPr>
              <a:t> and PEDN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0A482-2E38-C9FE-0B5C-2377C3D16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707C5-4A78-41C6-9DD3-479A8393C5F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D1FF93-677B-892F-AF5F-BEE3CA2A3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0" y="12021"/>
            <a:ext cx="10501084" cy="142307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Arial Nova"/>
              </a:rPr>
              <a:t>SMEs trained &amp;onboarded onto the app</a:t>
            </a:r>
          </a:p>
        </p:txBody>
      </p:sp>
      <p:pic>
        <p:nvPicPr>
          <p:cNvPr id="10" name="Picture 9" descr="A black and pink rectangle with numbers&#10;&#10;AI-generated content may be incorrect.">
            <a:extLst>
              <a:ext uri="{FF2B5EF4-FFF2-40B4-BE49-F238E27FC236}">
                <a16:creationId xmlns:a16="http://schemas.microsoft.com/office/drawing/2014/main" id="{9C6B4FEF-B229-4C98-0F90-5505BD190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99" y="2006503"/>
            <a:ext cx="14604795" cy="431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34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872CB1-78AE-FFFA-1BE3-04C926448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8BF6-842D-4DE1-A9B6-80231E3ECEDA}" type="datetime1">
              <a:rPr lang="en-GB" smtClean="0"/>
              <a:pPr/>
              <a:t>19/01/2026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F83F40-AB0D-75AA-5FBF-73D59A5F4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1DAA8-9171-11A9-8E62-1B9D593EE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707C5-4A78-41C6-9DD3-479A8393C5FF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843419A-8956-45B0-2F84-A6780B2A2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28" y="288957"/>
            <a:ext cx="8057072" cy="752444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rial Nova"/>
              </a:rPr>
              <a:t>ESO Count of SMEs for the 10X Project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071DC1-4BE4-E6BF-318F-7D6762F6B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879" y="1726185"/>
            <a:ext cx="14513841" cy="796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24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EB59E4-CDF6-40EC-F1D9-F65496CC1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8BF6-842D-4DE1-A9B6-80231E3ECEDA}" type="datetime1">
              <a:rPr lang="en-GB" smtClean="0"/>
              <a:pPr/>
              <a:t>19/01/2026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B0B370-CC59-5D76-8214-B0B0B5EE8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A65A6-1CFF-09B2-0FB4-174BBDE0C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707C5-4A78-41C6-9DD3-479A8393C5F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B827F15-DCA0-CF34-0AC5-15AA7A47A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181" y="62346"/>
            <a:ext cx="8414657" cy="1150937"/>
          </a:xfrm>
        </p:spPr>
        <p:txBody>
          <a:bodyPr/>
          <a:lstStyle/>
          <a:p>
            <a:r>
              <a:rPr lang="en-GB"/>
              <a:t>ESO and </a:t>
            </a:r>
            <a:r>
              <a:rPr lang="en-GB" err="1"/>
              <a:t>ChapChap</a:t>
            </a:r>
            <a:r>
              <a:rPr lang="en-GB"/>
              <a:t> Agent contribution to overall target</a:t>
            </a: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4B827F15-DCA0-CF34-0AC5-15AA7A47AB2E}"/>
              </a:ext>
            </a:extLst>
          </p:cNvPr>
          <p:cNvSpPr txBox="1">
            <a:spLocks/>
          </p:cNvSpPr>
          <p:nvPr/>
        </p:nvSpPr>
        <p:spPr>
          <a:xfrm>
            <a:off x="1385454" y="1523341"/>
            <a:ext cx="13160828" cy="5754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>
                    <a:lumMod val="95000"/>
                  </a:schemeClr>
                </a:solidFill>
                <a:latin typeface="Arial Nova" panose="020B0504020202020204" pitchFamily="34" charset="0"/>
                <a:ea typeface="+mj-ea"/>
                <a:cs typeface="+mj-cs"/>
              </a:defRPr>
            </a:lvl1pPr>
          </a:lstStyle>
          <a:p>
            <a:r>
              <a:rPr lang="en-GB" sz="2800" b="0">
                <a:solidFill>
                  <a:schemeClr val="tx1"/>
                </a:solidFill>
                <a:latin typeface="Arial Nova"/>
              </a:rPr>
              <a:t>Tranche 2 Target: </a:t>
            </a:r>
            <a:r>
              <a:rPr lang="en-GB" sz="2800">
                <a:solidFill>
                  <a:schemeClr val="tx1"/>
                </a:solidFill>
                <a:latin typeface="Arial Nova"/>
              </a:rPr>
              <a:t>1,600</a:t>
            </a:r>
            <a:r>
              <a:rPr lang="en-GB" sz="2800" b="0">
                <a:solidFill>
                  <a:schemeClr val="tx1"/>
                </a:solidFill>
                <a:latin typeface="Arial Nova"/>
              </a:rPr>
              <a:t> SME's Trained &amp; onboarded</a:t>
            </a:r>
            <a:endParaRPr lang="en-GB" sz="2800" b="0">
              <a:solidFill>
                <a:schemeClr val="tx1"/>
              </a:solidFill>
            </a:endParaRPr>
          </a:p>
        </p:txBody>
      </p:sp>
      <p:pic>
        <p:nvPicPr>
          <p:cNvPr id="9" name="Picture 8" descr="A green circle with blue and orange triangles and text&#10;&#10;AI-generated content may be incorrect.">
            <a:extLst>
              <a:ext uri="{FF2B5EF4-FFF2-40B4-BE49-F238E27FC236}">
                <a16:creationId xmlns:a16="http://schemas.microsoft.com/office/drawing/2014/main" id="{E07ECF81-2B77-0614-48E2-8469A027C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39" y="2087996"/>
            <a:ext cx="11903826" cy="698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017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A92B38-A76C-833B-8688-C76004CF0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8C8D-F40D-4D30-A148-53FC70D668F6}" type="datetime1">
              <a:rPr lang="en-GB" smtClean="0"/>
              <a:pPr/>
              <a:t>19/01/2026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96E94-EE90-42C9-74FD-8958AD6C2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707C5-4A78-41C6-9DD3-479A8393C5FF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DA0AE7A-2169-F44F-4229-B47D9919A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370" y="-4392"/>
            <a:ext cx="6975895" cy="1172503"/>
          </a:xfrm>
        </p:spPr>
        <p:txBody>
          <a:bodyPr>
            <a:normAutofit/>
          </a:bodyPr>
          <a:lstStyle/>
          <a:p>
            <a:r>
              <a:rPr lang="en-GB" sz="3200">
                <a:latin typeface="Arial Nova"/>
                <a:cs typeface="Aharoni"/>
              </a:rPr>
              <a:t>Activities Update </a:t>
            </a:r>
            <a:endParaRPr lang="en-GB" sz="32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3B20217-2855-69AB-80EC-F842877890B3}"/>
                  </a:ext>
                </a:extLst>
              </p14:cNvPr>
              <p14:cNvContentPartPr/>
              <p14:nvPr/>
            </p14:nvContentPartPr>
            <p14:xfrm>
              <a:off x="7488160" y="2293406"/>
              <a:ext cx="360" cy="622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3B20217-2855-69AB-80EC-F842877890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82040" y="2287286"/>
                <a:ext cx="12600" cy="63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AF76430-6250-824F-CF4D-E2EF4017EBF2}"/>
                  </a:ext>
                </a:extLst>
              </p14:cNvPr>
              <p14:cNvContentPartPr/>
              <p14:nvPr/>
            </p14:nvContentPartPr>
            <p14:xfrm>
              <a:off x="9186280" y="2293406"/>
              <a:ext cx="360" cy="8125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AF76430-6250-824F-CF4D-E2EF4017EB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80160" y="2287286"/>
                <a:ext cx="12600" cy="82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805BEE2-E3A9-1B46-1F14-91A464C1E224}"/>
                  </a:ext>
                </a:extLst>
              </p14:cNvPr>
              <p14:cNvContentPartPr/>
              <p14:nvPr/>
            </p14:nvContentPartPr>
            <p14:xfrm>
              <a:off x="10870000" y="2249486"/>
              <a:ext cx="360" cy="8848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805BEE2-E3A9-1B46-1F14-91A464C1E2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63880" y="2243366"/>
                <a:ext cx="12600" cy="89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76AC4B9-BB48-7FFE-4502-3C6E5C7280FB}"/>
                  </a:ext>
                </a:extLst>
              </p14:cNvPr>
              <p14:cNvContentPartPr/>
              <p14:nvPr/>
            </p14:nvContentPartPr>
            <p14:xfrm>
              <a:off x="6298720" y="2525246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76AC4B9-BB48-7FFE-4502-3C6E5C7280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92600" y="2519126"/>
                <a:ext cx="12600" cy="126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723C07A-12C1-A26F-C692-A61FE9F6AD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6667385"/>
              </p:ext>
            </p:extLst>
          </p:nvPr>
        </p:nvGraphicFramePr>
        <p:xfrm>
          <a:off x="1056735" y="1662938"/>
          <a:ext cx="14501250" cy="75909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640329">
                  <a:extLst>
                    <a:ext uri="{9D8B030D-6E8A-4147-A177-3AD203B41FA5}">
                      <a16:colId xmlns:a16="http://schemas.microsoft.com/office/drawing/2014/main" val="122563838"/>
                    </a:ext>
                  </a:extLst>
                </a:gridCol>
                <a:gridCol w="4360792">
                  <a:extLst>
                    <a:ext uri="{9D8B030D-6E8A-4147-A177-3AD203B41FA5}">
                      <a16:colId xmlns:a16="http://schemas.microsoft.com/office/drawing/2014/main" val="2907852344"/>
                    </a:ext>
                  </a:extLst>
                </a:gridCol>
                <a:gridCol w="5500129">
                  <a:extLst>
                    <a:ext uri="{9D8B030D-6E8A-4147-A177-3AD203B41FA5}">
                      <a16:colId xmlns:a16="http://schemas.microsoft.com/office/drawing/2014/main" val="331000557"/>
                    </a:ext>
                  </a:extLst>
                </a:gridCol>
              </a:tblGrid>
              <a:tr h="775741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US" sz="2400" kern="1200">
                          <a:solidFill>
                            <a:srgbClr val="FFFFFF"/>
                          </a:solidFill>
                          <a:effectLst/>
                        </a:rPr>
                        <a:t>Name of Entrepreneur Support Organization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rtl="0">
                        <a:buNone/>
                      </a:pPr>
                      <a:r>
                        <a:rPr lang="en-US" sz="2400" kern="1200">
                          <a:solidFill>
                            <a:srgbClr val="FFFFFF"/>
                          </a:solidFill>
                          <a:effectLst/>
                        </a:rPr>
                        <a:t>Date of Outreaches 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US" sz="2400" kern="1200">
                          <a:solidFill>
                            <a:srgbClr val="FFFFFF"/>
                          </a:solidFill>
                          <a:effectLst/>
                        </a:rPr>
                        <a:t>District of implementation 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517214"/>
                  </a:ext>
                </a:extLst>
              </a:tr>
              <a:tr h="1637676">
                <a:tc>
                  <a:txBody>
                    <a:bodyPr/>
                    <a:lstStyle/>
                    <a:p>
                      <a:pPr marL="0" algn="l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Stanbic Business Incubator</a:t>
                      </a:r>
                      <a:endParaRPr lang="en-US">
                        <a:effectLst/>
                      </a:endParaRPr>
                    </a:p>
                    <a:p>
                      <a:pPr marL="0" lvl="0" algn="l" rtl="0">
                        <a:lnSpc>
                          <a:spcPct val="150000"/>
                        </a:lnSpc>
                        <a:buNone/>
                      </a:pPr>
                      <a:r>
                        <a:rPr lang="en-US" sz="2400" b="1" kern="1200">
                          <a:solidFill>
                            <a:srgbClr val="FF0000"/>
                          </a:solidFill>
                          <a:effectLst/>
                        </a:rPr>
                        <a:t>DONE</a:t>
                      </a:r>
                      <a:r>
                        <a:rPr lang="en-US" sz="2400" kern="120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rtl="0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24</a:t>
                      </a:r>
                      <a:r>
                        <a:rPr lang="en-US" sz="2400" kern="1200" baseline="3000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en-US" sz="2400" kern="1200" baseline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– 26</a:t>
                      </a:r>
                      <a:r>
                        <a:rPr lang="en-US" sz="2400" kern="1200" baseline="3000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 November 2025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Wakiso </a:t>
                      </a:r>
                      <a:r>
                        <a:rPr lang="en-US" sz="24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Arial Nova"/>
                        </a:rPr>
                        <a:t>– </a:t>
                      </a: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Mapeera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24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Arial Nova"/>
                        </a:rPr>
                        <a:t>– 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Nabunya</a:t>
                      </a:r>
                    </a:p>
                    <a:p>
                      <a:pPr marL="0" algn="l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Wakiso – </a:t>
                      </a: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Nakuwadde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US">
                        <a:effectLst/>
                      </a:endParaRPr>
                    </a:p>
                    <a:p>
                      <a:pPr marL="0" algn="l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Mukono – </a:t>
                      </a: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Mandeleo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 Foundation 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719540"/>
                  </a:ext>
                </a:extLst>
              </a:tr>
              <a:tr h="1120515">
                <a:tc>
                  <a:txBody>
                    <a:bodyPr/>
                    <a:lstStyle/>
                    <a:p>
                      <a:pPr marL="0" algn="l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Tech Challenges Uganda </a:t>
                      </a:r>
                      <a:endParaRPr lang="en-US">
                        <a:effectLst/>
                      </a:endParaRPr>
                    </a:p>
                    <a:p>
                      <a:pPr marL="0" algn="l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2400" b="1" kern="1200">
                          <a:solidFill>
                            <a:srgbClr val="FF0000"/>
                          </a:solidFill>
                          <a:effectLst/>
                        </a:rPr>
                        <a:t>DONE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rtl="0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25</a:t>
                      </a:r>
                      <a:r>
                        <a:rPr lang="en-US" sz="2400" kern="1200" baseline="3000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en-US" sz="2400" kern="1200" baseline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&amp; 28</a:t>
                      </a:r>
                      <a:r>
                        <a:rPr lang="en-US" sz="2400" kern="1200" baseline="30000">
                          <a:solidFill>
                            <a:srgbClr val="000000"/>
                          </a:solidFill>
                          <a:effectLst/>
                        </a:rPr>
                        <a:t>th 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November 2025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Omoro, </a:t>
                      </a: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Nwoya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, Gulu 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396922"/>
                  </a:ext>
                </a:extLst>
              </a:tr>
              <a:tr h="1120515">
                <a:tc>
                  <a:txBody>
                    <a:bodyPr/>
                    <a:lstStyle/>
                    <a:p>
                      <a:pPr marL="0" algn="l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Mkazipreneur</a:t>
                      </a:r>
                      <a:endParaRPr lang="en-US" err="1">
                        <a:effectLst/>
                      </a:endParaRPr>
                    </a:p>
                    <a:p>
                      <a:pPr marL="0" lvl="0" algn="l">
                        <a:lnSpc>
                          <a:spcPct val="150000"/>
                        </a:lnSpc>
                        <a:buNone/>
                      </a:pPr>
                      <a:r>
                        <a:rPr lang="en-US" sz="2400" b="1" i="0" u="none" strike="noStrike" kern="1200" noProof="0">
                          <a:solidFill>
                            <a:srgbClr val="FF0000"/>
                          </a:solidFill>
                          <a:effectLst/>
                          <a:latin typeface="Arial Nova"/>
                        </a:rPr>
                        <a:t>DONE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rtl="0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December 5th &amp;12th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Mukono, Kampala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693077"/>
                  </a:ext>
                </a:extLst>
              </a:tr>
              <a:tr h="1188936">
                <a:tc>
                  <a:txBody>
                    <a:bodyPr/>
                    <a:lstStyle/>
                    <a:p>
                      <a:pPr marL="0" lvl="0" algn="l" rtl="0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(PEDN)</a:t>
                      </a:r>
                      <a:endParaRPr lang="en-US">
                        <a:effectLst/>
                      </a:endParaRPr>
                    </a:p>
                    <a:p>
                      <a:pPr marL="0" lvl="0" algn="l">
                        <a:lnSpc>
                          <a:spcPct val="150000"/>
                        </a:lnSpc>
                        <a:buNone/>
                      </a:pPr>
                      <a:r>
                        <a:rPr lang="en-US" sz="2400" b="1" i="0" u="none" strike="noStrike" kern="1200" noProof="0">
                          <a:solidFill>
                            <a:srgbClr val="FF0000"/>
                          </a:solidFill>
                          <a:effectLst/>
                          <a:latin typeface="Arial Nova"/>
                        </a:rPr>
                        <a:t>DONE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rtl="0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December 6th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rtl="0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Busia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Sironko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Bulambuli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Tororo</a:t>
                      </a:r>
                      <a:endParaRPr lang="en-US">
                        <a:effectLst/>
                      </a:endParaRPr>
                    </a:p>
                    <a:p>
                      <a:pPr marL="0" lvl="0" algn="l" rtl="0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Kapchorwa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Mbale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Pallisa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3520213"/>
                  </a:ext>
                </a:extLst>
              </a:tr>
              <a:tr h="1637676">
                <a:tc>
                  <a:txBody>
                    <a:bodyPr/>
                    <a:lstStyle/>
                    <a:p>
                      <a:pPr marL="0" algn="l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ChapChap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 Agents in </a:t>
                      </a: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Mukono</a:t>
                      </a:r>
                      <a:r>
                        <a:rPr lang="en-US" sz="2400" kern="1200" baseline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mr-IN" sz="2400" kern="1200" baseline="0">
                          <a:solidFill>
                            <a:srgbClr val="000000"/>
                          </a:solidFill>
                          <a:effectLst/>
                        </a:rPr>
                        <a:t>–</a:t>
                      </a:r>
                      <a:r>
                        <a:rPr lang="en-US" sz="2400" kern="1200" baseline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over 2 days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u="none" strike="noStrike" kern="1200" noProof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DONE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rtl="0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r>
                        <a:rPr lang="en-US" sz="2400" kern="1200" baseline="3000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en-US" sz="2400" kern="1200" baseline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– 11</a:t>
                      </a:r>
                      <a:r>
                        <a:rPr lang="en-US" sz="2400" kern="1200" baseline="30000">
                          <a:solidFill>
                            <a:srgbClr val="000000"/>
                          </a:solidFill>
                          <a:effectLst/>
                        </a:rPr>
                        <a:t>th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 December 2025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 Mukono District –  Mukono Resort Hotel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307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0EE66-A960-90AA-B4B6-A93287967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613D56-4207-50C8-AC43-B6F8B7C01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8C8D-F40D-4D30-A148-53FC70D668F6}" type="datetime1">
              <a:rPr lang="en-GB" smtClean="0"/>
              <a:pPr/>
              <a:t>19/01/2026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EA1B9-C927-484C-70BC-CA6679E0F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707C5-4A78-41C6-9DD3-479A8393C5FF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D471949-DDFB-FC6A-5374-F03FF760B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370" y="-4392"/>
            <a:ext cx="6975895" cy="1172503"/>
          </a:xfrm>
        </p:spPr>
        <p:txBody>
          <a:bodyPr>
            <a:normAutofit/>
          </a:bodyPr>
          <a:lstStyle/>
          <a:p>
            <a:r>
              <a:rPr lang="en-GB" sz="3200">
                <a:latin typeface="Arial Nova"/>
                <a:cs typeface="Aharoni"/>
              </a:rPr>
              <a:t>Upcoming Activities</a:t>
            </a:r>
            <a:endParaRPr lang="en-GB" sz="32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AA37AD7-13FD-B48C-DC0E-90934A4434B4}"/>
                  </a:ext>
                </a:extLst>
              </p14:cNvPr>
              <p14:cNvContentPartPr/>
              <p14:nvPr/>
            </p14:nvContentPartPr>
            <p14:xfrm>
              <a:off x="7488160" y="2293406"/>
              <a:ext cx="360" cy="622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AA37AD7-13FD-B48C-DC0E-90934A4434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82040" y="2287286"/>
                <a:ext cx="12600" cy="63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4FA2794-0A6A-55E7-BB1D-858F03068B74}"/>
                  </a:ext>
                </a:extLst>
              </p14:cNvPr>
              <p14:cNvContentPartPr/>
              <p14:nvPr/>
            </p14:nvContentPartPr>
            <p14:xfrm>
              <a:off x="9186280" y="2293406"/>
              <a:ext cx="360" cy="8125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4FA2794-0A6A-55E7-BB1D-858F03068B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80160" y="2287286"/>
                <a:ext cx="12600" cy="82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573692C-B831-CD62-90B6-3BB3E13047BA}"/>
                  </a:ext>
                </a:extLst>
              </p14:cNvPr>
              <p14:cNvContentPartPr/>
              <p14:nvPr/>
            </p14:nvContentPartPr>
            <p14:xfrm>
              <a:off x="10870000" y="2249486"/>
              <a:ext cx="360" cy="8848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573692C-B831-CD62-90B6-3BB3E13047B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63880" y="2243366"/>
                <a:ext cx="12600" cy="89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15E715C-1965-35D9-1F09-08C28473803F}"/>
                  </a:ext>
                </a:extLst>
              </p14:cNvPr>
              <p14:cNvContentPartPr/>
              <p14:nvPr/>
            </p14:nvContentPartPr>
            <p14:xfrm>
              <a:off x="6298720" y="2525246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15E715C-1965-35D9-1F09-08C2847380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92600" y="2519126"/>
                <a:ext cx="12600" cy="126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E253A11-F24F-E4E7-F958-BD1F854E85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4900958"/>
              </p:ext>
            </p:extLst>
          </p:nvPr>
        </p:nvGraphicFramePr>
        <p:xfrm>
          <a:off x="1056735" y="1725283"/>
          <a:ext cx="15402464" cy="74644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053120">
                  <a:extLst>
                    <a:ext uri="{9D8B030D-6E8A-4147-A177-3AD203B41FA5}">
                      <a16:colId xmlns:a16="http://schemas.microsoft.com/office/drawing/2014/main" val="122563838"/>
                    </a:ext>
                  </a:extLst>
                </a:gridCol>
                <a:gridCol w="4468090">
                  <a:extLst>
                    <a:ext uri="{9D8B030D-6E8A-4147-A177-3AD203B41FA5}">
                      <a16:colId xmlns:a16="http://schemas.microsoft.com/office/drawing/2014/main" val="2907852344"/>
                    </a:ext>
                  </a:extLst>
                </a:gridCol>
                <a:gridCol w="5881254">
                  <a:extLst>
                    <a:ext uri="{9D8B030D-6E8A-4147-A177-3AD203B41FA5}">
                      <a16:colId xmlns:a16="http://schemas.microsoft.com/office/drawing/2014/main" val="331000557"/>
                    </a:ext>
                  </a:extLst>
                </a:gridCol>
              </a:tblGrid>
              <a:tr h="861377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US" sz="2400" kern="1200">
                          <a:solidFill>
                            <a:srgbClr val="FFFFFF"/>
                          </a:solidFill>
                          <a:effectLst/>
                        </a:rPr>
                        <a:t>Name of Entrepreneur Support Organization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rtl="0">
                        <a:buNone/>
                      </a:pPr>
                      <a:r>
                        <a:rPr lang="en-US" sz="2400" kern="1200">
                          <a:solidFill>
                            <a:srgbClr val="FFFFFF"/>
                          </a:solidFill>
                          <a:effectLst/>
                        </a:rPr>
                        <a:t>Date of Outreaches 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US" sz="2400" kern="1200">
                          <a:solidFill>
                            <a:srgbClr val="FFFFFF"/>
                          </a:solidFill>
                          <a:effectLst/>
                        </a:rPr>
                        <a:t>District of implementation 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517214"/>
                  </a:ext>
                </a:extLst>
              </a:tr>
              <a:tr h="1086229">
                <a:tc>
                  <a:txBody>
                    <a:bodyPr/>
                    <a:lstStyle/>
                    <a:p>
                      <a:pPr marL="0" algn="l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2400" b="1" kern="1200">
                          <a:solidFill>
                            <a:srgbClr val="000000"/>
                          </a:solidFill>
                          <a:effectLst/>
                        </a:rPr>
                        <a:t>ChapChap Agents in </a:t>
                      </a:r>
                      <a:r>
                        <a:rPr lang="en-US" sz="2400" b="1" kern="1200" err="1">
                          <a:solidFill>
                            <a:srgbClr val="000000"/>
                          </a:solidFill>
                          <a:effectLst/>
                        </a:rPr>
                        <a:t>Wakiso</a:t>
                      </a:r>
                      <a:r>
                        <a:rPr lang="en-US" sz="2400" b="1" kern="120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US" b="1">
                        <a:effectLst/>
                      </a:endParaRPr>
                    </a:p>
                    <a:p>
                      <a:pPr marL="0" lvl="0" algn="l">
                        <a:lnSpc>
                          <a:spcPct val="150000"/>
                        </a:lnSpc>
                        <a:buNone/>
                      </a:pPr>
                      <a:r>
                        <a:rPr lang="en-US" sz="24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Arial Nova"/>
                        </a:rPr>
                        <a:t>- Potential pipeline of 2,600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rtl="0">
                        <a:lnSpc>
                          <a:spcPct val="150000"/>
                        </a:lnSpc>
                        <a:buNone/>
                      </a:pPr>
                      <a:r>
                        <a:rPr lang="en-US" sz="2400" b="1" kern="1200">
                          <a:solidFill>
                            <a:srgbClr val="000000"/>
                          </a:solidFill>
                          <a:effectLst/>
                        </a:rPr>
                        <a:t>Week starting 22</a:t>
                      </a:r>
                      <a:r>
                        <a:rPr lang="en-US" sz="2400" b="1" kern="1200" baseline="30000">
                          <a:solidFill>
                            <a:srgbClr val="000000"/>
                          </a:solidFill>
                          <a:effectLst/>
                        </a:rPr>
                        <a:t>nd</a:t>
                      </a:r>
                      <a:r>
                        <a:rPr lang="en-US" sz="2400" b="1" kern="120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2400" b="1" kern="1200" baseline="0">
                          <a:solidFill>
                            <a:srgbClr val="000000"/>
                          </a:solidFill>
                          <a:effectLst/>
                        </a:rPr>
                        <a:t>December 2025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2400" b="1" kern="1200">
                          <a:solidFill>
                            <a:srgbClr val="000000"/>
                          </a:solidFill>
                          <a:effectLst/>
                        </a:rPr>
                        <a:t>Wakiso – Different divisions of the district. Locations to be confirmed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396922"/>
                  </a:ext>
                </a:extLst>
              </a:tr>
              <a:tr h="1080635">
                <a:tc>
                  <a:txBody>
                    <a:bodyPr/>
                    <a:lstStyle/>
                    <a:p>
                      <a:pPr marL="0" lvl="0" algn="l">
                        <a:lnSpc>
                          <a:spcPct val="150000"/>
                        </a:lnSpc>
                        <a:buNone/>
                      </a:pPr>
                      <a:r>
                        <a:rPr lang="en-US" sz="2400"/>
                        <a:t>NANSANA </a:t>
                      </a:r>
                      <a:r>
                        <a:rPr lang="mr-IN" sz="2400"/>
                        <a:t>–</a:t>
                      </a:r>
                      <a:r>
                        <a:rPr lang="en-US" sz="2400"/>
                        <a:t> 195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rtl="0">
                        <a:lnSpc>
                          <a:spcPct val="1500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22</a:t>
                      </a:r>
                      <a:r>
                        <a:rPr lang="en-US" sz="2400" baseline="30000">
                          <a:effectLst/>
                        </a:rPr>
                        <a:t>nd</a:t>
                      </a:r>
                      <a:r>
                        <a:rPr lang="en-US" sz="2400">
                          <a:effectLst/>
                        </a:rPr>
                        <a:t> December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Wakiso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mr-IN" sz="2400" kern="1200">
                          <a:solidFill>
                            <a:srgbClr val="000000"/>
                          </a:solidFill>
                          <a:effectLst/>
                        </a:rPr>
                        <a:t>–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Makutano</a:t>
                      </a:r>
                      <a:r>
                        <a:rPr lang="en-US" sz="2400" kern="1200" baseline="0">
                          <a:solidFill>
                            <a:srgbClr val="000000"/>
                          </a:solidFill>
                          <a:effectLst/>
                        </a:rPr>
                        <a:t> Gardens, </a:t>
                      </a:r>
                      <a:r>
                        <a:rPr lang="en-US" sz="2400" kern="1200" baseline="0" err="1">
                          <a:solidFill>
                            <a:srgbClr val="000000"/>
                          </a:solidFill>
                          <a:effectLst/>
                        </a:rPr>
                        <a:t>Nansana</a:t>
                      </a:r>
                      <a:endParaRPr lang="en-US" sz="2400" kern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0635">
                <a:tc>
                  <a:txBody>
                    <a:bodyPr/>
                    <a:lstStyle/>
                    <a:p>
                      <a:pPr marL="0" lvl="0" algn="l">
                        <a:lnSpc>
                          <a:spcPct val="150000"/>
                        </a:lnSpc>
                        <a:buNone/>
                      </a:pPr>
                      <a:r>
                        <a:rPr lang="en-US" sz="2400"/>
                        <a:t>KIRA </a:t>
                      </a:r>
                      <a:r>
                        <a:rPr lang="mr-IN" sz="2400"/>
                        <a:t>–</a:t>
                      </a:r>
                      <a:r>
                        <a:rPr lang="en-US" sz="2400"/>
                        <a:t> 200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rtl="0">
                        <a:lnSpc>
                          <a:spcPct val="1500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6th</a:t>
                      </a:r>
                      <a:r>
                        <a:rPr lang="en-US" sz="2400" baseline="0">
                          <a:effectLst/>
                        </a:rPr>
                        <a:t> and 7</a:t>
                      </a:r>
                      <a:r>
                        <a:rPr lang="en-US" sz="2400" baseline="30000">
                          <a:effectLst/>
                        </a:rPr>
                        <a:t>th</a:t>
                      </a:r>
                      <a:r>
                        <a:rPr lang="en-US" sz="2400" baseline="0">
                          <a:effectLst/>
                        </a:rPr>
                        <a:t> January 2026</a:t>
                      </a:r>
                      <a:endParaRPr lang="en-US" sz="2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Wakiso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mr-IN" sz="2400" kern="1200">
                          <a:solidFill>
                            <a:srgbClr val="000000"/>
                          </a:solidFill>
                          <a:effectLst/>
                        </a:rPr>
                        <a:t>–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Kasangati</a:t>
                      </a:r>
                      <a:r>
                        <a:rPr lang="en-US" sz="2400" kern="1200" baseline="0">
                          <a:solidFill>
                            <a:srgbClr val="000000"/>
                          </a:solidFill>
                          <a:effectLst/>
                        </a:rPr>
                        <a:t> Resort</a:t>
                      </a:r>
                      <a:endParaRPr lang="en-US" sz="2400" kern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6229">
                <a:tc>
                  <a:txBody>
                    <a:bodyPr/>
                    <a:lstStyle/>
                    <a:p>
                      <a:pPr marL="0" lvl="0" algn="l">
                        <a:lnSpc>
                          <a:spcPct val="150000"/>
                        </a:lnSpc>
                        <a:buNone/>
                      </a:pPr>
                      <a:r>
                        <a:rPr lang="en-US" sz="2400"/>
                        <a:t>MAKINDYE SABAGABO </a:t>
                      </a:r>
                      <a:r>
                        <a:rPr lang="mr-IN" sz="2400"/>
                        <a:t>–</a:t>
                      </a:r>
                      <a:r>
                        <a:rPr lang="en-US" sz="2400"/>
                        <a:t> 200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effectLst/>
                        </a:rPr>
                        <a:t>9</a:t>
                      </a:r>
                      <a:r>
                        <a:rPr lang="en-US" sz="2400" baseline="30000">
                          <a:effectLst/>
                        </a:rPr>
                        <a:t>th</a:t>
                      </a:r>
                      <a:r>
                        <a:rPr lang="en-US" sz="2400" baseline="0">
                          <a:effectLst/>
                        </a:rPr>
                        <a:t> and 10</a:t>
                      </a:r>
                      <a:r>
                        <a:rPr lang="en-US" sz="2400" baseline="30000">
                          <a:effectLst/>
                        </a:rPr>
                        <a:t>th</a:t>
                      </a:r>
                      <a:r>
                        <a:rPr lang="en-US" sz="2400" baseline="0">
                          <a:effectLst/>
                        </a:rPr>
                        <a:t> January 2026</a:t>
                      </a:r>
                      <a:endParaRPr lang="en-US" sz="2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Wakiso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mr-IN" sz="2400" kern="1200">
                          <a:solidFill>
                            <a:srgbClr val="000000"/>
                          </a:solidFill>
                          <a:effectLst/>
                        </a:rPr>
                        <a:t>–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 Zana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0635">
                <a:tc>
                  <a:txBody>
                    <a:bodyPr/>
                    <a:lstStyle/>
                    <a:p>
                      <a:pPr marL="0" lvl="0" algn="l">
                        <a:lnSpc>
                          <a:spcPct val="150000"/>
                        </a:lnSpc>
                        <a:buNone/>
                      </a:pPr>
                      <a:r>
                        <a:rPr lang="en-US" sz="2400"/>
                        <a:t>ABAITA</a:t>
                      </a:r>
                      <a:r>
                        <a:rPr lang="en-US" sz="2400" baseline="0"/>
                        <a:t> BABIRI </a:t>
                      </a:r>
                      <a:r>
                        <a:rPr lang="mr-IN" sz="2400" baseline="0"/>
                        <a:t>–</a:t>
                      </a:r>
                      <a:r>
                        <a:rPr lang="en-US" sz="2400" baseline="0"/>
                        <a:t> 200 Pipeline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effectLst/>
                        </a:rPr>
                        <a:t>12</a:t>
                      </a:r>
                      <a:r>
                        <a:rPr lang="en-US" sz="2400" baseline="30000">
                          <a:effectLst/>
                        </a:rPr>
                        <a:t>th</a:t>
                      </a:r>
                      <a:r>
                        <a:rPr lang="en-US" sz="2400">
                          <a:effectLst/>
                        </a:rPr>
                        <a:t> and 13</a:t>
                      </a:r>
                      <a:r>
                        <a:rPr lang="en-US" sz="2400" baseline="30000">
                          <a:effectLst/>
                        </a:rPr>
                        <a:t>th</a:t>
                      </a:r>
                      <a:r>
                        <a:rPr lang="en-US" sz="2400">
                          <a:effectLst/>
                        </a:rPr>
                        <a:t> January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Wakiso</a:t>
                      </a:r>
                      <a:r>
                        <a:rPr lang="en-US" sz="2400" kern="1200" baseline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mr-IN" sz="2400" kern="1200" baseline="0">
                          <a:solidFill>
                            <a:srgbClr val="000000"/>
                          </a:solidFill>
                          <a:effectLst/>
                        </a:rPr>
                        <a:t>–</a:t>
                      </a:r>
                      <a:r>
                        <a:rPr lang="en-US" sz="2400" kern="1200" baseline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2400" kern="1200" baseline="0" err="1">
                          <a:solidFill>
                            <a:srgbClr val="000000"/>
                          </a:solidFill>
                          <a:effectLst/>
                        </a:rPr>
                        <a:t>Abaita</a:t>
                      </a:r>
                      <a:r>
                        <a:rPr lang="en-US" sz="2400" kern="1200" baseline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US" sz="2400" kern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80635">
                <a:tc>
                  <a:txBody>
                    <a:bodyPr/>
                    <a:lstStyle/>
                    <a:p>
                      <a:pPr marL="0" lvl="0" algn="l">
                        <a:lnSpc>
                          <a:spcPct val="150000"/>
                        </a:lnSpc>
                        <a:buNone/>
                      </a:pPr>
                      <a:r>
                        <a:rPr lang="en-US" sz="2400"/>
                        <a:t>WAKISO MUNICIPALITY </a:t>
                      </a:r>
                      <a:r>
                        <a:rPr lang="mr-IN" sz="2400"/>
                        <a:t>–</a:t>
                      </a:r>
                      <a:r>
                        <a:rPr lang="en-US" sz="2400"/>
                        <a:t> 200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effectLst/>
                        </a:rPr>
                        <a:t>19</a:t>
                      </a:r>
                      <a:r>
                        <a:rPr lang="en-US" sz="2400" baseline="30000">
                          <a:effectLst/>
                        </a:rPr>
                        <a:t>th</a:t>
                      </a:r>
                      <a:r>
                        <a:rPr lang="en-US" sz="2400">
                          <a:effectLst/>
                        </a:rPr>
                        <a:t> and 20</a:t>
                      </a:r>
                      <a:r>
                        <a:rPr lang="en-US" sz="2400" baseline="30000">
                          <a:effectLst/>
                        </a:rPr>
                        <a:t>th</a:t>
                      </a:r>
                      <a:r>
                        <a:rPr lang="en-US" sz="2400">
                          <a:effectLst/>
                        </a:rPr>
                        <a:t> January</a:t>
                      </a:r>
                      <a:r>
                        <a:rPr lang="en-US" sz="2400" baseline="0">
                          <a:effectLst/>
                        </a:rPr>
                        <a:t> 2026</a:t>
                      </a:r>
                      <a:endParaRPr lang="en-US" sz="2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2400" kern="1200" err="1">
                          <a:solidFill>
                            <a:srgbClr val="000000"/>
                          </a:solidFill>
                          <a:effectLst/>
                        </a:rPr>
                        <a:t>Wakiso</a:t>
                      </a: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</a:rPr>
                        <a:t> Municipality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694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169C1D-83B3-2E4F-3192-62E45992B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8BF6-842D-4DE1-A9B6-80231E3ECEDA}" type="datetime1">
              <a:rPr lang="en-GB" smtClean="0"/>
              <a:pPr/>
              <a:t>19/01/2026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7950D-6F03-2A5D-23CB-897261FE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707C5-4A78-41C6-9DD3-479A8393C5FF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33E26AE-9862-5C76-494A-EF479F8C8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49" y="-12969"/>
            <a:ext cx="7320951" cy="1301899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rial Nova"/>
              </a:rPr>
              <a:t>Challenges and Strategies towards </a:t>
            </a:r>
            <a:r>
              <a:rPr lang="en-US" err="1">
                <a:latin typeface="Arial Nova"/>
              </a:rPr>
              <a:t>impoving</a:t>
            </a:r>
            <a:r>
              <a:rPr lang="en-US">
                <a:latin typeface="Arial Nova"/>
              </a:rPr>
              <a:t> project performance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A3D1641-772F-5362-2120-6632E2769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712" y="1710543"/>
            <a:ext cx="13829886" cy="776845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Some Challenges</a:t>
            </a:r>
            <a:r>
              <a:rPr lang="en-US" sz="2400">
                <a:solidFill>
                  <a:schemeClr val="tx1"/>
                </a:solidFill>
              </a:rPr>
              <a:t>: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chemeClr val="tx1"/>
                </a:solidFill>
              </a:rPr>
              <a:t>Some training participants mobilized by ESO's were below 18 years or above 35 years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err="1">
                <a:solidFill>
                  <a:schemeClr val="tx1"/>
                </a:solidFill>
              </a:rPr>
              <a:t>Upto</a:t>
            </a:r>
            <a:r>
              <a:rPr lang="en-US" sz="2400" dirty="0">
                <a:solidFill>
                  <a:schemeClr val="tx1"/>
                </a:solidFill>
              </a:rPr>
              <a:t> about 50% of attendees did not have smartphones but locations like Tororo which is peri-urban had a </a:t>
            </a:r>
            <a:r>
              <a:rPr lang="en-US" sz="2400">
                <a:solidFill>
                  <a:schemeClr val="tx1"/>
                </a:solidFill>
              </a:rPr>
              <a:t>lower percentage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chemeClr val="tx1"/>
                </a:solidFill>
              </a:rPr>
              <a:t>Some phones had low battery, which could mean poor quality devices or poor usage knowledge of the devices</a:t>
            </a:r>
          </a:p>
          <a:p>
            <a:r>
              <a:rPr lang="en-US" sz="2400" b="1">
                <a:solidFill>
                  <a:schemeClr val="tx1"/>
                </a:solidFill>
              </a:rPr>
              <a:t>Suggested Actions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To benchmark on the </a:t>
            </a:r>
            <a:r>
              <a:rPr lang="en-US" sz="2400" dirty="0" err="1">
                <a:solidFill>
                  <a:schemeClr val="tx1"/>
                </a:solidFill>
              </a:rPr>
              <a:t>ChapChap</a:t>
            </a:r>
            <a:r>
              <a:rPr lang="en-US" sz="2400" dirty="0">
                <a:solidFill>
                  <a:schemeClr val="tx1"/>
                </a:solidFill>
              </a:rPr>
              <a:t> clients that are currently using the agent app that have small business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To recruit &amp; train a team of community champions that will be given target number of SME's to train &amp; onboard within their catchment.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To re-engage ESO's to provide lists of SME's that have been trained in the 10X program foundation course.</a:t>
            </a:r>
          </a:p>
        </p:txBody>
      </p:sp>
    </p:spTree>
    <p:extLst>
      <p:ext uri="{BB962C8B-B14F-4D97-AF65-F5344CB8AC3E}">
        <p14:creationId xmlns:p14="http://schemas.microsoft.com/office/powerpoint/2010/main" val="1848227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CE60D-9D27-E7B2-F6E2-EF7DCEAE3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70472-F5A6-58E1-D48C-22BD3C0BD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8BF6-842D-4DE1-A9B6-80231E3ECEDA}" type="datetime1">
              <a:rPr lang="en-GB" smtClean="0"/>
              <a:pPr/>
              <a:t>19/01/2026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98DB3D-196A-F93B-47BA-6D2DADBFD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707C5-4A78-41C6-9DD3-479A8393C5FF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749043-C5B5-87C6-C2A4-D96AB19CF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49" y="-12969"/>
            <a:ext cx="7320951" cy="1301899"/>
          </a:xfrm>
        </p:spPr>
        <p:txBody>
          <a:bodyPr>
            <a:normAutofit/>
          </a:bodyPr>
          <a:lstStyle/>
          <a:p>
            <a:r>
              <a:rPr lang="en-US">
                <a:latin typeface="Arial Nova"/>
              </a:rPr>
              <a:t>Observations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E0F020C-ED2B-419B-0A9D-34989FA1C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712" y="1710543"/>
            <a:ext cx="13765188" cy="77684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spcBef>
                <a:spcPts val="0"/>
              </a:spcBef>
              <a:buChar char="•"/>
            </a:pPr>
            <a:r>
              <a:rPr lang="en-US" sz="2400">
                <a:solidFill>
                  <a:schemeClr val="tx1"/>
                </a:solidFill>
                <a:latin typeface="Arial"/>
                <a:cs typeface="Arial"/>
              </a:rPr>
              <a:t>Opportunities for device-financing companies at the recommended price points of the target audiences</a:t>
            </a:r>
            <a:endParaRPr lang="en-US" sz="2400">
              <a:solidFill>
                <a:schemeClr val="tx1"/>
              </a:solidFill>
            </a:endParaRPr>
          </a:p>
          <a:p>
            <a:pPr marL="457200" indent="-457200">
              <a:spcBef>
                <a:spcPts val="0"/>
              </a:spcBef>
              <a:buChar char="•"/>
            </a:pPr>
            <a:r>
              <a:rPr lang="en-US" sz="2400">
                <a:solidFill>
                  <a:schemeClr val="tx1"/>
                </a:solidFill>
                <a:latin typeface="Arial"/>
                <a:cs typeface="Poppins"/>
              </a:rPr>
              <a:t>The willingness-to-pay and ability-to-pay surveys for device financing conducted by the ESO showed an appetite to purchase smartphones ranging between </a:t>
            </a:r>
            <a:r>
              <a:rPr lang="en-US" sz="2400" err="1">
                <a:solidFill>
                  <a:schemeClr val="tx1"/>
                </a:solidFill>
                <a:latin typeface="Arial"/>
                <a:cs typeface="Poppins"/>
              </a:rPr>
              <a:t>USh</a:t>
            </a:r>
            <a:r>
              <a:rPr lang="en-US" sz="2400">
                <a:solidFill>
                  <a:schemeClr val="tx1"/>
                </a:solidFill>
                <a:latin typeface="Arial"/>
                <a:cs typeface="Poppins"/>
              </a:rPr>
              <a:t> 300,000 and </a:t>
            </a:r>
            <a:r>
              <a:rPr lang="en-US" sz="2400" err="1">
                <a:solidFill>
                  <a:schemeClr val="tx1"/>
                </a:solidFill>
                <a:latin typeface="Arial"/>
                <a:cs typeface="Poppins"/>
              </a:rPr>
              <a:t>USh</a:t>
            </a:r>
            <a:r>
              <a:rPr lang="en-US" sz="2400">
                <a:solidFill>
                  <a:schemeClr val="tx1"/>
                </a:solidFill>
                <a:latin typeface="Arial"/>
                <a:cs typeface="Poppins"/>
              </a:rPr>
              <a:t> 400,000, with payment periods ranging from 1 month to 6 months</a:t>
            </a:r>
            <a:endParaRPr lang="en-US" sz="2400">
              <a:solidFill>
                <a:schemeClr val="tx1"/>
              </a:solidFill>
            </a:endParaRPr>
          </a:p>
          <a:p>
            <a:pPr marL="457200" indent="-457200">
              <a:spcBef>
                <a:spcPts val="0"/>
              </a:spcBef>
              <a:buChar char="•"/>
            </a:pPr>
            <a:r>
              <a:rPr lang="en-US" sz="2400">
                <a:solidFill>
                  <a:schemeClr val="tx1"/>
                </a:solidFill>
                <a:latin typeface="Arial"/>
                <a:cs typeface="Poppins"/>
              </a:rPr>
              <a:t>The attendees had a high appetite for business loans from the number of questions asked in the Q&amp;A sessions</a:t>
            </a:r>
          </a:p>
          <a:p>
            <a:pPr marL="457200" indent="-457200">
              <a:spcBef>
                <a:spcPts val="0"/>
              </a:spcBef>
              <a:buChar char="•"/>
            </a:pPr>
            <a:r>
              <a:rPr lang="en-US" sz="2400">
                <a:solidFill>
                  <a:schemeClr val="tx1"/>
                </a:solidFill>
                <a:latin typeface="Arial"/>
                <a:cs typeface="Poppins"/>
              </a:rPr>
              <a:t>Training of attendees in some district necessitated the need for a translator in delivering the training. This ability to provide for translations in various languages proved successful. In Pallisa for example, 4 languages were used to deliver the training (English, Luganda, </a:t>
            </a:r>
            <a:r>
              <a:rPr lang="en-US" sz="2400" err="1">
                <a:solidFill>
                  <a:schemeClr val="tx1"/>
                </a:solidFill>
                <a:latin typeface="Arial"/>
                <a:cs typeface="Poppins"/>
              </a:rPr>
              <a:t>Ateso</a:t>
            </a:r>
            <a:r>
              <a:rPr lang="en-US" sz="2400">
                <a:solidFill>
                  <a:schemeClr val="tx1"/>
                </a:solidFill>
                <a:latin typeface="Arial"/>
                <a:cs typeface="Poppins"/>
              </a:rPr>
              <a:t> and </a:t>
            </a:r>
            <a:r>
              <a:rPr lang="en-US" sz="2400" err="1">
                <a:solidFill>
                  <a:schemeClr val="tx1"/>
                </a:solidFill>
                <a:latin typeface="Arial"/>
                <a:cs typeface="Poppins"/>
              </a:rPr>
              <a:t>Lugwere</a:t>
            </a:r>
            <a:r>
              <a:rPr lang="en-US" sz="2400">
                <a:solidFill>
                  <a:schemeClr val="tx1"/>
                </a:solidFill>
                <a:latin typeface="Arial"/>
                <a:cs typeface="Poppins"/>
              </a:rPr>
              <a:t>)</a:t>
            </a:r>
            <a:endParaRPr lang="en-US">
              <a:solidFill>
                <a:schemeClr val="tx1"/>
              </a:solidFill>
            </a:endParaRPr>
          </a:p>
          <a:p>
            <a:pPr marL="457200" indent="-457200">
              <a:spcBef>
                <a:spcPts val="0"/>
              </a:spcBef>
              <a:buChar char="•"/>
            </a:pPr>
            <a:r>
              <a:rPr lang="en-US" sz="2400">
                <a:solidFill>
                  <a:schemeClr val="tx1"/>
                </a:solidFill>
                <a:latin typeface="Arial"/>
                <a:cs typeface="Poppins"/>
              </a:rPr>
              <a:t>In 5 districts, </a:t>
            </a:r>
            <a:r>
              <a:rPr lang="en-US" sz="2400" err="1">
                <a:solidFill>
                  <a:schemeClr val="tx1"/>
                </a:solidFill>
                <a:latin typeface="Arial"/>
                <a:cs typeface="Poppins"/>
              </a:rPr>
              <a:t>ChapChap</a:t>
            </a:r>
            <a:r>
              <a:rPr lang="en-US" sz="2400">
                <a:solidFill>
                  <a:schemeClr val="tx1"/>
                </a:solidFill>
                <a:latin typeface="Arial"/>
                <a:cs typeface="Poppins"/>
              </a:rPr>
              <a:t> used the ESO </a:t>
            </a:r>
            <a:r>
              <a:rPr lang="en-US" sz="2400" err="1">
                <a:solidFill>
                  <a:schemeClr val="tx1"/>
                </a:solidFill>
                <a:latin typeface="Arial"/>
                <a:cs typeface="Poppins"/>
              </a:rPr>
              <a:t>ToTs</a:t>
            </a:r>
            <a:r>
              <a:rPr lang="en-US" sz="2400">
                <a:solidFill>
                  <a:schemeClr val="tx1"/>
                </a:solidFill>
                <a:latin typeface="Arial"/>
                <a:cs typeface="Poppins"/>
              </a:rPr>
              <a:t> to deliver the trainings, which proved successful and may point to the long-term sustainability of the project.</a:t>
            </a:r>
          </a:p>
        </p:txBody>
      </p:sp>
    </p:spTree>
    <p:extLst>
      <p:ext uri="{BB962C8B-B14F-4D97-AF65-F5344CB8AC3E}">
        <p14:creationId xmlns:p14="http://schemas.microsoft.com/office/powerpoint/2010/main" val="618254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761386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Custom 1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BD43A9DA817040BF39832D9C624DF4" ma:contentTypeVersion="14" ma:contentTypeDescription="Create a new document." ma:contentTypeScope="" ma:versionID="81b0f1230327d089be6e867905bd9842">
  <xsd:schema xmlns:xsd="http://www.w3.org/2001/XMLSchema" xmlns:xs="http://www.w3.org/2001/XMLSchema" xmlns:p="http://schemas.microsoft.com/office/2006/metadata/properties" xmlns:ns2="f0da7b93-e44c-4222-aa73-99210936d98a" xmlns:ns3="03c9b490-f41a-44d4-b477-5dc7a1f1574c" targetNamespace="http://schemas.microsoft.com/office/2006/metadata/properties" ma:root="true" ma:fieldsID="d0c025cdae6ba124cffb9e78f985f7ed" ns2:_="" ns3:_="">
    <xsd:import namespace="f0da7b93-e44c-4222-aa73-99210936d98a"/>
    <xsd:import namespace="03c9b490-f41a-44d4-b477-5dc7a1f157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da7b93-e44c-4222-aa73-99210936d9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246aad95-8262-469b-be0e-af5bca76b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c9b490-f41a-44d4-b477-5dc7a1f1574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8f8341f-f4ca-409f-a26b-a2dec8f29cec}" ma:internalName="TaxCatchAll" ma:showField="CatchAllData" ma:web="03c9b490-f41a-44d4-b477-5dc7a1f157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3c9b490-f41a-44d4-b477-5dc7a1f1574c" xsi:nil="true"/>
    <lcf76f155ced4ddcb4097134ff3c332f xmlns="f0da7b93-e44c-4222-aa73-99210936d98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4CDDC8-22D4-45D3-B22B-F8AC4AE13631}"/>
</file>

<file path=customXml/itemProps2.xml><?xml version="1.0" encoding="utf-8"?>
<ds:datastoreItem xmlns:ds="http://schemas.openxmlformats.org/officeDocument/2006/customXml" ds:itemID="{9C205ACF-D62C-451B-86DD-462C19051088}">
  <ds:schemaRefs>
    <ds:schemaRef ds:uri="4f98902a-0365-40e5-83ae-c7c4517b395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03c9b490-f41a-44d4-b477-5dc7a1f1574c"/>
    <ds:schemaRef ds:uri="f0da7b93-e44c-4222-aa73-99210936d98a"/>
  </ds:schemaRefs>
</ds:datastoreItem>
</file>

<file path=customXml/itemProps3.xml><?xml version="1.0" encoding="utf-8"?>
<ds:datastoreItem xmlns:ds="http://schemas.openxmlformats.org/officeDocument/2006/customXml" ds:itemID="{B0458FD6-9A6B-4316-A609-5FB07E966D6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e4f4225-f5a7-40dd-9cd4-5b1027497d42}" enabled="1" method="Standard" siteId="{96d6a731-2094-4e4d-bda0-79f93b41c94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Custom Design</vt:lpstr>
      <vt:lpstr>5_Custom Design</vt:lpstr>
      <vt:lpstr>3_Custom Design</vt:lpstr>
      <vt:lpstr>2_Custom Design</vt:lpstr>
      <vt:lpstr>1_Custom Design</vt:lpstr>
      <vt:lpstr>4_Custom Design</vt:lpstr>
      <vt:lpstr>Weekly Updates – UNCDF PROJECT </vt:lpstr>
      <vt:lpstr>AGENDA </vt:lpstr>
      <vt:lpstr>SMEs trained &amp;onboarded onto the app</vt:lpstr>
      <vt:lpstr>ESO Count of SMEs for the 10X Project</vt:lpstr>
      <vt:lpstr>ESO and ChapChap Agent contribution to overall target</vt:lpstr>
      <vt:lpstr>Activities Update </vt:lpstr>
      <vt:lpstr>Upcoming Activities</vt:lpstr>
      <vt:lpstr>Challenges and Strategies towards impoving project performance</vt:lpstr>
      <vt:lpstr>Observations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CHAPCHAP AFRICA</dc:title>
  <dc:creator>Michelle Naiga</dc:creator>
  <cp:revision>27</cp:revision>
  <dcterms:created xsi:type="dcterms:W3CDTF">2006-08-16T00:00:00Z</dcterms:created>
  <dcterms:modified xsi:type="dcterms:W3CDTF">2026-01-20T07:43:16Z</dcterms:modified>
  <dc:identifier>DAG2Zg9bB_E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0x010100ECBD43A9DA817040BF39832D9C624DF4</vt:lpwstr>
  </property>
  <property fmtid="{D5CDD505-2E9C-101B-9397-08002B2CF9AE}" pid="3" name="MediaServiceImageTags">
    <vt:lpwstr/>
  </property>
</Properties>
</file>